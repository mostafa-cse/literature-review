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411480"/>
            <a:ext cx="5120640" cy="320040"/>
          </a:xfrm>
          <a:prstGeom prst="roundRect">
            <a:avLst>
              <a:gd name="adj" fmla="val 22857"/>
            </a:avLst>
          </a:prstGeom>
          <a:solidFill>
            <a:srgbClr val="1E293B"/>
          </a:solidFill>
          <a:ln w="19050">
            <a:solidFill>
              <a:srgbClr val="F59E0B"/>
            </a:solidFill>
            <a:prstDash val="solid"/>
          </a:ln>
        </p:spPr>
      </p:sp>
      <p:sp>
        <p:nvSpPr>
          <p:cNvPr id="3" name="Text 1"/>
          <p:cNvSpPr/>
          <p:nvPr/>
        </p:nvSpPr>
        <p:spPr>
          <a:xfrm>
            <a:off x="777240" y="411480"/>
            <a:ext cx="5029200" cy="320040"/>
          </a:xfrm>
          <a:prstGeom prst="rect">
            <a:avLst/>
          </a:prstGeom>
          <a:noFill/>
          <a:ln/>
        </p:spPr>
        <p:txBody>
          <a:bodyPr wrap="square" rtlCol="0" anchor="ctr"/>
          <a:lstStyle/>
          <a:p>
            <a:pPr indent="0" marL="0">
              <a:buNone/>
            </a:pPr>
            <a:r>
              <a:rPr lang="en-US" sz="950" b="1" dirty="0">
                <a:solidFill>
                  <a:srgbClr val="F59E0B"/>
                </a:solidFill>
              </a:rPr>
              <a:t>ACADEMIC RESEARCH BENCHMARKING PLATFORM  |  SLIDE 01 OF 12</a:t>
            </a:r>
            <a:endParaRPr lang="en-US" sz="950" dirty="0"/>
          </a:p>
        </p:txBody>
      </p:sp>
      <p:sp>
        <p:nvSpPr>
          <p:cNvPr id="4" name="Text 2"/>
          <p:cNvSpPr/>
          <p:nvPr/>
        </p:nvSpPr>
        <p:spPr>
          <a:xfrm>
            <a:off x="731520" y="841248"/>
            <a:ext cx="10725912" cy="777240"/>
          </a:xfrm>
          <a:prstGeom prst="rect">
            <a:avLst/>
          </a:prstGeom>
          <a:noFill/>
          <a:ln/>
        </p:spPr>
        <p:txBody>
          <a:bodyPr wrap="square" rtlCol="0" anchor="ctr"/>
          <a:lstStyle/>
          <a:p>
            <a:pPr indent="0" marL="0">
              <a:buNone/>
            </a:pPr>
            <a:r>
              <a:rPr lang="en-US" sz="2400" b="1" dirty="0">
                <a:solidFill>
                  <a:srgbClr val="FFFFFF"/>
                </a:solidFill>
              </a:rPr>
              <a:t>LitSphere: Deep Analytical Literature Review &amp; Benchmarking System</a:t>
            </a:r>
            <a:endParaRPr lang="en-US" sz="2400" dirty="0"/>
          </a:p>
        </p:txBody>
      </p:sp>
      <p:sp>
        <p:nvSpPr>
          <p:cNvPr id="5" name="Text 3"/>
          <p:cNvSpPr/>
          <p:nvPr/>
        </p:nvSpPr>
        <p:spPr>
          <a:xfrm>
            <a:off x="731520" y="1664208"/>
            <a:ext cx="10725912" cy="438912"/>
          </a:xfrm>
          <a:prstGeom prst="rect">
            <a:avLst/>
          </a:prstGeom>
          <a:noFill/>
          <a:ln/>
        </p:spPr>
        <p:txBody>
          <a:bodyPr wrap="square" rtlCol="0" anchor="ctr"/>
          <a:lstStyle/>
          <a:p>
            <a:pPr indent="0" marL="0">
              <a:buNone/>
            </a:pPr>
            <a:r>
              <a:rPr lang="en-US" sz="1150" dirty="0">
                <a:solidFill>
                  <a:srgbClr val="38BDF8"/>
                </a:solidFill>
              </a:rPr>
              <a:t>A Unified Scientific Platform for Systematic Literature Reviews, Dynamic Taxonomy Matrixing, In-Browser PDF/KaTeX Extraction, PRISMA 2020 Blind Screening &amp; Multi-Level Thesis Synthesis</a:t>
            </a:r>
            <a:endParaRPr lang="en-US" sz="1150" dirty="0"/>
          </a:p>
        </p:txBody>
      </p:sp>
      <p:sp>
        <p:nvSpPr>
          <p:cNvPr id="6" name="Shape 4"/>
          <p:cNvSpPr/>
          <p:nvPr/>
        </p:nvSpPr>
        <p:spPr>
          <a:xfrm>
            <a:off x="731520" y="2240280"/>
            <a:ext cx="5166360" cy="3977640"/>
          </a:xfrm>
          <a:prstGeom prst="roundRect">
            <a:avLst>
              <a:gd name="adj" fmla="val 1839"/>
            </a:avLst>
          </a:prstGeom>
          <a:solidFill>
            <a:srgbClr val="1E293B"/>
          </a:solidFill>
          <a:ln w="12700">
            <a:solidFill>
              <a:srgbClr val="334155"/>
            </a:solidFill>
            <a:prstDash val="solid"/>
          </a:ln>
        </p:spPr>
      </p:sp>
      <p:sp>
        <p:nvSpPr>
          <p:cNvPr id="7" name="Text 5"/>
          <p:cNvSpPr/>
          <p:nvPr/>
        </p:nvSpPr>
        <p:spPr>
          <a:xfrm>
            <a:off x="914400" y="2377440"/>
            <a:ext cx="4800600" cy="256032"/>
          </a:xfrm>
          <a:prstGeom prst="rect">
            <a:avLst/>
          </a:prstGeom>
          <a:noFill/>
          <a:ln/>
        </p:spPr>
        <p:txBody>
          <a:bodyPr wrap="square" rtlCol="0" anchor="ctr"/>
          <a:lstStyle/>
          <a:p>
            <a:pPr indent="0" marL="0">
              <a:buNone/>
            </a:pPr>
            <a:r>
              <a:rPr lang="en-US" sz="1100" b="1" dirty="0">
                <a:solidFill>
                  <a:srgbClr val="F59E0B"/>
                </a:solidFill>
              </a:rPr>
              <a:t>RESEARCH PROBLEM &amp; PLATFORM SOLUTION</a:t>
            </a:r>
            <a:endParaRPr lang="en-US" sz="1100" dirty="0"/>
          </a:p>
        </p:txBody>
      </p:sp>
      <p:sp>
        <p:nvSpPr>
          <p:cNvPr id="8" name="Text 6"/>
          <p:cNvSpPr/>
          <p:nvPr/>
        </p:nvSpPr>
        <p:spPr>
          <a:xfrm>
            <a:off x="914400" y="2697480"/>
            <a:ext cx="4800600" cy="2560320"/>
          </a:xfrm>
          <a:prstGeom prst="rect">
            <a:avLst/>
          </a:prstGeom>
          <a:noFill/>
          <a:ln/>
        </p:spPr>
        <p:txBody>
          <a:bodyPr wrap="square" rtlCol="0" anchor="t"/>
          <a:lstStyle/>
          <a:p>
            <a:pPr indent="0" marL="0">
              <a:lnSpc>
                <a:spcPct val="115000"/>
              </a:lnSpc>
              <a:buNone/>
            </a:pPr>
            <a:r>
              <a:rPr lang="en-US" sz="1000" b="1" dirty="0">
                <a:solidFill>
                  <a:srgbClr val="FFFFFF"/>
                </a:solidFill>
              </a:rPr>
              <a:t>[1] Problem in Academia: </a:t>
            </a:r>
            <a:pPr indent="0" marL="0">
              <a:lnSpc>
                <a:spcPct val="115000"/>
              </a:lnSpc>
              <a:buNone/>
            </a:pPr>
            <a:r>
              <a:rPr lang="en-US" sz="950" dirty="0">
                <a:solidFill>
                  <a:srgbClr val="CBD5E1"/>
                </a:solidFill>
              </a:rPr>
              <a:t>Researchers typically track hundreds of papers using fragmented spreadsheets (Excel, Google Sheets) and disconnected PDF folders, causing severe loss of methodological context, lack of standardized taxonomy, and lost mathematical formulation integrity.
</a:t>
            </a:r>
            <a:pPr indent="0" marL="0">
              <a:lnSpc>
                <a:spcPct val="115000"/>
              </a:lnSpc>
              <a:buNone/>
            </a:pPr>
            <a:r>
              <a:rPr lang="en-US" sz="1000" b="1" dirty="0">
                <a:solidFill>
                  <a:srgbClr val="FFFFFF"/>
                </a:solidFill>
              </a:rPr>
              <a:t>[2] The LitSphere Solution: </a:t>
            </a:r>
            <a:pPr indent="0" marL="0">
              <a:lnSpc>
                <a:spcPct val="115000"/>
              </a:lnSpc>
              <a:buNone/>
            </a:pPr>
            <a:r>
              <a:rPr lang="en-US" sz="950" dirty="0">
                <a:solidFill>
                  <a:srgbClr val="CBD5E1"/>
                </a:solidFill>
              </a:rPr>
              <a:t>LitSphere replaces disparate tools with an integrated research workbench combining high-concurrency SQLite WAL storage, automated CrossRef DOI indexing, side-by-side PDF.js/KaTeX extraction, and PRISMA 2020 appraisal.
</a:t>
            </a:r>
            <a:pPr indent="0" marL="0">
              <a:lnSpc>
                <a:spcPct val="115000"/>
              </a:lnSpc>
              <a:buNone/>
            </a:pPr>
            <a:r>
              <a:rPr lang="en-US" sz="1000" b="1" dirty="0">
                <a:solidFill>
                  <a:srgbClr val="FFFFFF"/>
                </a:solidFill>
              </a:rPr>
              <a:t>[3] 8 Integrated Subsystems: </a:t>
            </a:r>
            <a:pPr indent="0" marL="0">
              <a:lnSpc>
                <a:spcPct val="115000"/>
              </a:lnSpc>
              <a:buNone/>
            </a:pPr>
            <a:r>
              <a:rPr lang="en-US" sz="950" dirty="0">
                <a:solidFill>
                  <a:srgbClr val="CBD5E1"/>
                </a:solidFill>
              </a:rPr>
              <a:t>Authentication &amp; RBAC, Survey Governance, Multi-source Ingestion, Master Matrix Workbench, Dynamic Taxonomy Splitting, Split-Screen Reviewer, PRISMA Screening, and Multi-Format Thesis Export (Excel, LaTeX, BibTeX).</a:t>
            </a:r>
            <a:endParaRPr lang="en-US" sz="1000" dirty="0"/>
          </a:p>
        </p:txBody>
      </p:sp>
      <p:sp>
        <p:nvSpPr>
          <p:cNvPr id="9" name="Shape 7"/>
          <p:cNvSpPr/>
          <p:nvPr/>
        </p:nvSpPr>
        <p:spPr>
          <a:xfrm>
            <a:off x="914400" y="5349240"/>
            <a:ext cx="4800600" cy="713232"/>
          </a:xfrm>
          <a:prstGeom prst="roundRect">
            <a:avLst>
              <a:gd name="adj" fmla="val 7692"/>
            </a:avLst>
          </a:prstGeom>
          <a:solidFill>
            <a:srgbClr val="0F172A"/>
          </a:solidFill>
          <a:ln w="10160">
            <a:solidFill>
              <a:srgbClr val="475569"/>
            </a:solidFill>
            <a:prstDash val="solid"/>
          </a:ln>
        </p:spPr>
      </p:sp>
      <p:sp>
        <p:nvSpPr>
          <p:cNvPr id="10" name="Text 8"/>
          <p:cNvSpPr/>
          <p:nvPr/>
        </p:nvSpPr>
        <p:spPr>
          <a:xfrm>
            <a:off x="1024128" y="5413248"/>
            <a:ext cx="4572000" cy="594360"/>
          </a:xfrm>
          <a:prstGeom prst="rect">
            <a:avLst/>
          </a:prstGeom>
          <a:noFill/>
          <a:ln/>
        </p:spPr>
        <p:txBody>
          <a:bodyPr wrap="square" rtlCol="0" anchor="ctr"/>
          <a:lstStyle/>
          <a:p>
            <a:pPr indent="0" marL="0">
              <a:buNone/>
            </a:pPr>
            <a:r>
              <a:rPr lang="en-US" sz="950" b="1" dirty="0">
                <a:solidFill>
                  <a:srgbClr val="F59E0B"/>
                </a:solidFill>
              </a:rPr>
              <a:t>PRESENTER: </a:t>
            </a:r>
            <a:pPr indent="0" marL="0">
              <a:buNone/>
            </a:pPr>
            <a:r>
              <a:rPr lang="en-US" sz="950" dirty="0">
                <a:solidFill>
                  <a:srgbClr val="FFFFFF"/>
                </a:solidFill>
              </a:rPr>
              <a:t>Mostafa Kamal (200108.cse@student.just.edu.bd)
</a:t>
            </a:r>
            <a:pPr indent="0" marL="0">
              <a:buNone/>
            </a:pPr>
            <a:r>
              <a:rPr lang="en-US" sz="950" b="1" dirty="0">
                <a:solidFill>
                  <a:srgbClr val="F59E0B"/>
                </a:solidFill>
              </a:rPr>
              <a:t>INSTITUTION: </a:t>
            </a:r>
            <a:pPr indent="0" marL="0">
              <a:buNone/>
            </a:pPr>
            <a:r>
              <a:rPr lang="en-US" sz="950" dirty="0">
                <a:solidFill>
                  <a:srgbClr val="FFFFFF"/>
                </a:solidFill>
              </a:rPr>
              <a:t>Dept. of Computer Science &amp; Engineering, Jashore University of Science &amp; Technology</a:t>
            </a:r>
            <a:endParaRPr lang="en-US" sz="950" dirty="0"/>
          </a:p>
        </p:txBody>
      </p:sp>
      <p:sp>
        <p:nvSpPr>
          <p:cNvPr id="11" name="Shape 9"/>
          <p:cNvSpPr/>
          <p:nvPr/>
        </p:nvSpPr>
        <p:spPr>
          <a:xfrm>
            <a:off x="6080760" y="2240280"/>
            <a:ext cx="5376672" cy="3977640"/>
          </a:xfrm>
          <a:prstGeom prst="roundRect">
            <a:avLst>
              <a:gd name="adj" fmla="val 1839"/>
            </a:avLst>
          </a:prstGeom>
          <a:solidFill>
            <a:srgbClr val="1E293B"/>
          </a:solidFill>
          <a:ln w="12700">
            <a:solidFill>
              <a:srgbClr val="334155"/>
            </a:solidFill>
            <a:prstDash val="solid"/>
          </a:ln>
        </p:spPr>
      </p:sp>
      <p:sp>
        <p:nvSpPr>
          <p:cNvPr id="12" name="Shape 10"/>
          <p:cNvSpPr/>
          <p:nvPr/>
        </p:nvSpPr>
        <p:spPr>
          <a:xfrm>
            <a:off x="6236208" y="2377440"/>
            <a:ext cx="5065776" cy="3035808"/>
          </a:xfrm>
          <a:prstGeom prst="rect">
            <a:avLst/>
          </a:prstGeom>
          <a:solidFill>
            <a:srgbClr val="000000"/>
          </a:solidFill>
          <a:ln w="15240">
            <a:solidFill>
              <a:srgbClr val="475569"/>
            </a:solidFill>
            <a:prstDash val="solid"/>
          </a:ln>
        </p:spPr>
      </p:sp>
      <p:pic>
        <p:nvPicPr>
          <p:cNvPr id="13" name="Image 0" descr="/Users/mostafakamal/Documents/Final Year Project/ Literature Review/presentation_screenshots/01_home_hero.png">    </p:cNvPr>
          <p:cNvPicPr>
            <a:picLocks noChangeAspect="1"/>
          </p:cNvPicPr>
          <p:nvPr/>
        </p:nvPicPr>
        <p:blipFill>
          <a:blip r:embed="rId1"/>
          <a:stretch>
            <a:fillRect/>
          </a:stretch>
        </p:blipFill>
        <p:spPr>
          <a:xfrm>
            <a:off x="6236208" y="2377440"/>
            <a:ext cx="5065776" cy="3035808"/>
          </a:xfrm>
          <a:prstGeom prst="rect">
            <a:avLst/>
          </a:prstGeom>
        </p:spPr>
      </p:pic>
      <p:sp>
        <p:nvSpPr>
          <p:cNvPr id="14" name="Shape 11"/>
          <p:cNvSpPr/>
          <p:nvPr/>
        </p:nvSpPr>
        <p:spPr>
          <a:xfrm>
            <a:off x="6236208" y="5504688"/>
            <a:ext cx="5065776" cy="566928"/>
          </a:xfrm>
          <a:prstGeom prst="roundRect">
            <a:avLst>
              <a:gd name="adj" fmla="val 9677"/>
            </a:avLst>
          </a:prstGeom>
          <a:solidFill>
            <a:srgbClr val="0F172A"/>
          </a:solidFill>
          <a:ln w="12700">
            <a:solidFill>
              <a:srgbClr val="F59E0B"/>
            </a:solidFill>
            <a:prstDash val="solid"/>
          </a:ln>
        </p:spPr>
      </p:sp>
      <p:sp>
        <p:nvSpPr>
          <p:cNvPr id="15" name="Text 12"/>
          <p:cNvSpPr/>
          <p:nvPr/>
        </p:nvSpPr>
        <p:spPr>
          <a:xfrm>
            <a:off x="6355080" y="5522976"/>
            <a:ext cx="4828032" cy="530352"/>
          </a:xfrm>
          <a:prstGeom prst="rect">
            <a:avLst/>
          </a:prstGeom>
          <a:noFill/>
          <a:ln/>
        </p:spPr>
        <p:txBody>
          <a:bodyPr wrap="square" rtlCol="0" anchor="ctr"/>
          <a:lstStyle/>
          <a:p>
            <a:pPr indent="0" marL="0">
              <a:buNone/>
            </a:pPr>
            <a:r>
              <a:rPr lang="en-US" sz="850" b="1" dirty="0">
                <a:solidFill>
                  <a:srgbClr val="FFFFFF"/>
                </a:solidFill>
              </a:rPr>
              <a:t>[LIVE UI]  LitSphere Academic Intelligence Hero Portal &amp; Live Test Drive Sandbox</a:t>
            </a:r>
            <a:endParaRPr lang="en-US" sz="850" dirty="0"/>
          </a:p>
          <a:p>
            <a:pPr indent="0" marL="0">
              <a:buNone/>
            </a:pPr>
            <a:r>
              <a:rPr lang="en-US" sz="850" b="1" dirty="0">
                <a:solidFill>
                  <a:srgbClr val="FFFFFF"/>
                </a:solidFill>
              </a:rPr>
              <a:t>Featuring dynamic particle constellation, feature pill tags &amp; instant interactive demo suite</a:t>
            </a:r>
            <a:endParaRPr lang="en-US" sz="850" dirty="0"/>
          </a:p>
        </p:txBody>
      </p:sp>
      <p:sp>
        <p:nvSpPr>
          <p:cNvPr id="16" name="Shape 13"/>
          <p:cNvSpPr/>
          <p:nvPr/>
        </p:nvSpPr>
        <p:spPr>
          <a:xfrm>
            <a:off x="731520" y="6355080"/>
            <a:ext cx="10725912" cy="0"/>
          </a:xfrm>
          <a:prstGeom prst="line">
            <a:avLst/>
          </a:prstGeom>
          <a:noFill/>
          <a:ln w="10160">
            <a:solidFill>
              <a:srgbClr val="334155"/>
            </a:solidFill>
            <a:prstDash val="solid"/>
          </a:ln>
        </p:spPr>
      </p:sp>
      <p:sp>
        <p:nvSpPr>
          <p:cNvPr id="17" name="Text 14"/>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Advanced Literature Review &amp; Benchmarking System  |  Final Year Project Defense</a:t>
            </a:r>
            <a:endParaRPr lang="en-US" sz="900" dirty="0"/>
          </a:p>
        </p:txBody>
      </p:sp>
      <p:sp>
        <p:nvSpPr>
          <p:cNvPr id="18" name="Text 15"/>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F59E0B"/>
                </a:solidFill>
              </a:rPr>
              <a:t>Slide 1 of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38BDF8"/>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38BDF8"/>
                </a:solidFill>
              </a:rPr>
              <a:t>SYSTEM ARCHITECTURE &amp; DATABASE ENGINE  |  SLIDE 02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Relational SQLite WAL Architecture &amp; Subsystem Ecosystem</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Zero-latency single-file persistence with synchronous Write-Ahead Logging and dual BLOB/disk storage</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38BDF8"/>
                </a:solidFill>
              </a:rPr>
              <a:t>Slide 2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38BDF8"/>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Node.js 22 DatabaseSync Engine: </a:t>
            </a:r>
            <a:pPr indent="0" marL="0">
              <a:lnSpc>
                <a:spcPct val="115000"/>
              </a:lnSpc>
              <a:buNone/>
            </a:pPr>
            <a:r>
              <a:rPr lang="en-US" sz="950" dirty="0">
                <a:solidFill>
                  <a:srgbClr val="CBD5E1"/>
                </a:solidFill>
              </a:rPr>
              <a:t>Built using native Node.js DatabaseSync module, eliminating slow binary C++ native addon bindings and delivering sub-millisecond ACID transactions directly in the runtime.</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WAL Journaling &amp; 5000ms Busy Timeout: </a:t>
            </a:r>
            <a:pPr indent="0" marL="0">
              <a:lnSpc>
                <a:spcPct val="115000"/>
              </a:lnSpc>
              <a:buNone/>
            </a:pPr>
            <a:r>
              <a:rPr lang="en-US" sz="950" dirty="0">
                <a:solidFill>
                  <a:srgbClr val="CBD5E1"/>
                </a:solidFill>
              </a:rPr>
              <a:t>Configured with 'PRAGMA journal_mode = WAL' and 'PRAGMA busy_timeout = 5000;'. Enables simultaneous non-blocking concurrent readers while dedicated writes execute cleanly without lock contention.</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Dual BLOB &amp; Filesystem PDF Storage: </a:t>
            </a:r>
            <a:pPr indent="0" marL="0">
              <a:lnSpc>
                <a:spcPct val="115000"/>
              </a:lnSpc>
              <a:buNone/>
            </a:pPr>
            <a:r>
              <a:rPr lang="en-US" sz="950" dirty="0">
                <a:solidFill>
                  <a:srgbClr val="CBD5E1"/>
                </a:solidFill>
              </a:rPr>
              <a:t>Stores binary PDF documents directly inside SQLite paper_files table with automatic migration and fallback streaming from /uploads/ directory, ensuring 100% self-contained database backups.</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Relational Integrity Across 15 Tables: </a:t>
            </a:r>
            <a:pPr indent="0" marL="0">
              <a:lnSpc>
                <a:spcPct val="115000"/>
              </a:lnSpc>
              <a:buNone/>
            </a:pPr>
            <a:r>
              <a:rPr lang="en-US" sz="950" dirty="0">
                <a:solidFill>
                  <a:srgbClr val="CBD5E1"/>
                </a:solidFill>
              </a:rPr>
              <a:t>Strict 'PRAGMA foreign_keys = ON' with cascading constraints across users, projects, clusters, papers, dynamic columns, values, keywords, and immutable audit logs.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Runtime Engine: </a:t>
            </a:r>
            <a:pPr indent="0" marL="0">
              <a:buNone/>
            </a:pPr>
            <a:r>
              <a:rPr lang="en-US" sz="850" dirty="0">
                <a:solidFill>
                  <a:srgbClr val="CBD5E1"/>
                </a:solidFill>
              </a:rPr>
              <a:t>Node.js v25.8.1 with Express 4.21.2 &amp; SQLite DatabaseSync
</a:t>
            </a:r>
            <a:pPr indent="0" marL="0">
              <a:buNone/>
            </a:pPr>
            <a:r>
              <a:rPr lang="en-US" sz="850" b="1" dirty="0">
                <a:solidFill>
                  <a:srgbClr val="38BDF8"/>
                </a:solidFill>
              </a:rPr>
              <a:t>• Concurrency Mode: </a:t>
            </a:r>
            <a:pPr indent="0" marL="0">
              <a:buNone/>
            </a:pPr>
            <a:r>
              <a:rPr lang="en-US" sz="850" dirty="0">
                <a:solidFill>
                  <a:srgbClr val="CBD5E1"/>
                </a:solidFill>
              </a:rPr>
              <a:t>Write-Ahead Logging (WAL) + Busy Timeout 5000ms
</a:t>
            </a:r>
            <a:pPr indent="0" marL="0">
              <a:buNone/>
            </a:pPr>
            <a:r>
              <a:rPr lang="en-US" sz="850" b="1" dirty="0">
                <a:solidFill>
                  <a:srgbClr val="38BDF8"/>
                </a:solidFill>
              </a:rPr>
              <a:t>• Schema Scope: </a:t>
            </a:r>
            <a:pPr indent="0" marL="0">
              <a:buNone/>
            </a:pPr>
            <a:r>
              <a:rPr lang="en-US" sz="850" dirty="0">
                <a:solidFill>
                  <a:srgbClr val="CBD5E1"/>
                </a:solidFill>
              </a:rPr>
              <a:t>15 Core Tables: projects, clusters, papers, paper_files, audit_logs
</a:t>
            </a:r>
            <a:pPr indent="0" marL="0">
              <a:buNone/>
            </a:pPr>
            <a:r>
              <a:rPr lang="en-US" sz="850" b="1" dirty="0">
                <a:solidFill>
                  <a:srgbClr val="38BDF8"/>
                </a:solidFill>
              </a:rPr>
              <a:t>• Binary Ingestion: </a:t>
            </a:r>
            <a:pPr indent="0" marL="0">
              <a:buNone/>
            </a:pPr>
            <a:r>
              <a:rPr lang="en-US" sz="850" dirty="0">
                <a:solidFill>
                  <a:srgbClr val="CBD5E1"/>
                </a:solidFill>
              </a:rPr>
              <a:t>SQLite BLOB storage with dynamic streaming endpoint /api/papers/:id/pdf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2_architecture_subsystems.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38BDF8"/>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Subsystems Architecture, Comparison Matrix &amp; Technology Breakdown</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Comparison matrix benchmarking LitSphere vs. Google Sheets, Excel, and reference managers</a:t>
            </a:r>
            <a:endParaRPr lang="en-US" sz="800" dirty="0"/>
          </a:p>
          <a:p>
            <a:pPr indent="0" marL="0">
              <a:lnSpc>
                <a:spcPct val="115000"/>
              </a:lnSpc>
              <a:buNone/>
            </a:pPr>
            <a:r>
              <a:rPr lang="en-US" sz="800" dirty="0">
                <a:solidFill>
                  <a:srgbClr val="CBD5E1"/>
                </a:solidFill>
              </a:rPr>
              <a:t>▸ 77% Average time saved, 100% mathematical fidelity &amp; &lt;1ms SQLite WAL mode latency badge</a:t>
            </a:r>
            <a:endParaRPr lang="en-US" sz="800" dirty="0"/>
          </a:p>
          <a:p>
            <a:pPr indent="0" marL="0">
              <a:lnSpc>
                <a:spcPct val="115000"/>
              </a:lnSpc>
              <a:buNone/>
            </a:pPr>
            <a:r>
              <a:rPr lang="en-US" sz="800" dirty="0">
                <a:solidFill>
                  <a:srgbClr val="CBD5E1"/>
                </a:solidFill>
              </a:rPr>
              <a:t>▸ 8 Core platform subsystems navigable via interactive architectural tabs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A855F7"/>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A855F7"/>
                </a:solidFill>
              </a:rPr>
              <a:t>SECURITY &amp; RESEARCHER IDENTITY  |  SLIDE 03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Researcher Authentication, Cryptography &amp; Session Auditing</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Cryptographic scrypt hashing, HS256 stateless tokens with revocation, and ORCID/Google SSO</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A855F7"/>
                </a:solidFill>
              </a:rPr>
              <a:t>Slide 3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A855F7"/>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Cryptographic Password Hashing: </a:t>
            </a:r>
            <a:pPr indent="0" marL="0">
              <a:lnSpc>
                <a:spcPct val="115000"/>
              </a:lnSpc>
              <a:buNone/>
            </a:pPr>
            <a:r>
              <a:rPr lang="en-US" sz="950" dirty="0">
                <a:solidFill>
                  <a:srgbClr val="CBD5E1"/>
                </a:solidFill>
              </a:rPr>
              <a:t>Implements Node.js native crypto.scryptSync with 16-byte random salt generation and 64-byte derived keys (format: salt:derivedKey), providing strong protection against rainbow tables.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Stateless JWT Session Verification: </a:t>
            </a:r>
            <a:pPr indent="0" marL="0">
              <a:lnSpc>
                <a:spcPct val="115000"/>
              </a:lnSpc>
              <a:buNone/>
            </a:pPr>
            <a:r>
              <a:rPr lang="en-US" sz="950" dirty="0">
                <a:solidFill>
                  <a:srgbClr val="CBD5E1"/>
                </a:solidFill>
              </a:rPr>
              <a:t>Custom HMAC-SHA256 token generator (generateToken) featuring 30-day expiration, user role encapsulation, and token version validation (token_version) enabling instant session revocation.</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Live Input Debounce &amp; Institutional SSO: </a:t>
            </a:r>
            <a:pPr indent="0" marL="0">
              <a:lnSpc>
                <a:spcPct val="115000"/>
              </a:lnSpc>
              <a:buNone/>
            </a:pPr>
            <a:r>
              <a:rPr lang="en-US" sz="950" dirty="0">
                <a:solidFill>
                  <a:srgbClr val="CBD5E1"/>
                </a:solidFill>
              </a:rPr>
              <a:t>Real-time AJAX debouncing validates username and Gmail availability before form submission; integrated with Firebase Google SSO and academic ORCID authentication.</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Self-Service Nodemailer OTP Password Reset: </a:t>
            </a:r>
            <a:pPr indent="0" marL="0">
              <a:lnSpc>
                <a:spcPct val="115000"/>
              </a:lnSpc>
              <a:buNone/>
            </a:pPr>
            <a:r>
              <a:rPr lang="en-US" sz="950" dirty="0">
                <a:solidFill>
                  <a:srgbClr val="CBD5E1"/>
                </a:solidFill>
              </a:rPr>
              <a:t>Automated 6-digit numeric OTP generation stored with 15-minute expirations in password_resets table with HTML email dispatching.</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Crypto Algorithms: </a:t>
            </a:r>
            <a:pPr indent="0" marL="0">
              <a:buNone/>
            </a:pPr>
            <a:r>
              <a:rPr lang="en-US" sz="850" dirty="0">
                <a:solidFill>
                  <a:srgbClr val="CBD5E1"/>
                </a:solidFill>
              </a:rPr>
              <a:t>scryptSync (16B Salt, 64B Key) + HMAC-SHA256 JWT
</a:t>
            </a:r>
            <a:pPr indent="0" marL="0">
              <a:buNone/>
            </a:pPr>
            <a:r>
              <a:rPr lang="en-US" sz="850" b="1" dirty="0">
                <a:solidFill>
                  <a:srgbClr val="38BDF8"/>
                </a:solidFill>
              </a:rPr>
              <a:t>• Auth Routes: </a:t>
            </a:r>
            <a:pPr indent="0" marL="0">
              <a:buNone/>
            </a:pPr>
            <a:r>
              <a:rPr lang="en-US" sz="850" dirty="0">
                <a:solidFill>
                  <a:srgbClr val="CBD5E1"/>
                </a:solidFill>
              </a:rPr>
              <a:t>POST /api/auth/register, /login, /google, /orcid, /logout
</a:t>
            </a:r>
            <a:pPr indent="0" marL="0">
              <a:buNone/>
            </a:pPr>
            <a:r>
              <a:rPr lang="en-US" sz="850" b="1" dirty="0">
                <a:solidFill>
                  <a:srgbClr val="38BDF8"/>
                </a:solidFill>
              </a:rPr>
              <a:t>• Session Revocation: </a:t>
            </a:r>
            <a:pPr indent="0" marL="0">
              <a:buNone/>
            </a:pPr>
            <a:r>
              <a:rPr lang="en-US" sz="850" dirty="0">
                <a:solidFill>
                  <a:srgbClr val="CBD5E1"/>
                </a:solidFill>
              </a:rPr>
              <a:t>Single-click global logout via token_version incrementation
</a:t>
            </a:r>
            <a:pPr indent="0" marL="0">
              <a:buNone/>
            </a:pPr>
            <a:r>
              <a:rPr lang="en-US" sz="850" b="1" dirty="0">
                <a:solidFill>
                  <a:srgbClr val="38BDF8"/>
                </a:solidFill>
              </a:rPr>
              <a:t>• Security Audit Trail: </a:t>
            </a:r>
            <a:pPr indent="0" marL="0">
              <a:buNone/>
            </a:pPr>
            <a:r>
              <a:rPr lang="en-US" sz="850" dirty="0">
                <a:solidFill>
                  <a:srgbClr val="CBD5E1"/>
                </a:solidFill>
              </a:rPr>
              <a:t>Immutable IP &amp; User-Agent logging on every auth attempt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3_auth_security.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A855F7"/>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Researcher Sign-In, Live Uniqueness Feedback &amp; Institutional Auth Portal</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Dynamic tabbed authentication card supporting Login, Registration, and Password Reset</a:t>
            </a:r>
            <a:endParaRPr lang="en-US" sz="800" dirty="0"/>
          </a:p>
          <a:p>
            <a:pPr indent="0" marL="0">
              <a:lnSpc>
                <a:spcPct val="115000"/>
              </a:lnSpc>
              <a:buNone/>
            </a:pPr>
            <a:r>
              <a:rPr lang="en-US" sz="800" dirty="0">
                <a:solidFill>
                  <a:srgbClr val="CBD5E1"/>
                </a:solidFill>
              </a:rPr>
              <a:t>▸ Live AJAX input validation verifying username &amp; institutional email availability on keyup</a:t>
            </a:r>
            <a:endParaRPr lang="en-US" sz="800" dirty="0"/>
          </a:p>
          <a:p>
            <a:pPr indent="0" marL="0">
              <a:lnSpc>
                <a:spcPct val="115000"/>
              </a:lnSpc>
              <a:buNone/>
            </a:pPr>
            <a:r>
              <a:rPr lang="en-US" sz="800" dirty="0">
                <a:solidFill>
                  <a:srgbClr val="CBD5E1"/>
                </a:solidFill>
              </a:rPr>
              <a:t>▸ ORCID Researcher iD and Google SSO integrations alongside password strength meter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F59E0B"/>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F59E0B"/>
                </a:solidFill>
              </a:rPr>
              <a:t>SURVEY LIFECYCLE &amp; PROJECT GOVERNANCE  |  SLIDE 04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Multi-Project Survey Hub &amp; Master Taxonomy Blueprints</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Project lifecycle governance, live synthesis progress metrics, and one-click benchmark cloning</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F59E0B"/>
                </a:solidFill>
              </a:rPr>
              <a:t>Slide 4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F59E0B"/>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Centralized Survey Oversight: </a:t>
            </a:r>
            <a:pPr indent="0" marL="0">
              <a:lnSpc>
                <a:spcPct val="115000"/>
              </a:lnSpc>
              <a:buNone/>
            </a:pPr>
            <a:r>
              <a:rPr lang="en-US" sz="950" dirty="0">
                <a:solidFill>
                  <a:srgbClr val="CBD5E1"/>
                </a:solidFill>
              </a:rPr>
              <a:t>Provides researchers with an executive workspace listing all active literature reviews, custom domains, member rosters, and creation dates in toggleable Card and Table views.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Real-Time Synthesis Progress Rings: </a:t>
            </a:r>
            <a:pPr indent="0" marL="0">
              <a:lnSpc>
                <a:spcPct val="115000"/>
              </a:lnSpc>
              <a:buNone/>
            </a:pPr>
            <a:r>
              <a:rPr lang="en-US" sz="950" dirty="0">
                <a:solidFill>
                  <a:srgbClr val="CBD5E1"/>
                </a:solidFill>
              </a:rPr>
              <a:t>Dynamic SVG progress indicators compute (read_count / total_papers) * 100 and PRISMA screening completeness in real-time, providing immediate visual feedback on survey readiness.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Master Blueprint Taxonomy Cloning: </a:t>
            </a:r>
            <a:pPr indent="0" marL="0">
              <a:lnSpc>
                <a:spcPct val="115000"/>
              </a:lnSpc>
              <a:buNone/>
            </a:pPr>
            <a:r>
              <a:rPr lang="en-US" sz="950" dirty="0">
                <a:solidFill>
                  <a:srgbClr val="CBD5E1"/>
                </a:solidFill>
              </a:rPr>
              <a:t>One-click instantiation clones pre-structured academic benchmarks (e.g. 6-Pillar Feature Selection or LLM Benchmarks) complete with color-coded clusters and scientific dynamic columns.</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Project Duplication &amp; Matrix Reset: </a:t>
            </a:r>
            <a:pPr indent="0" marL="0">
              <a:lnSpc>
                <a:spcPct val="115000"/>
              </a:lnSpc>
              <a:buNone/>
            </a:pPr>
            <a:r>
              <a:rPr lang="en-US" sz="950" dirty="0">
                <a:solidFill>
                  <a:srgbClr val="CBD5E1"/>
                </a:solidFill>
              </a:rPr>
              <a:t>Allows researchers to deep-clone survey taxonomies without carrying over legacy papers (/duplicate), or wipe papers while preserving the curated matrix schema (/reset-matrix).</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Endpoints: </a:t>
            </a:r>
            <a:pPr indent="0" marL="0">
              <a:buNone/>
            </a:pPr>
            <a:r>
              <a:rPr lang="en-US" sz="850" dirty="0">
                <a:solidFill>
                  <a:srgbClr val="CBD5E1"/>
                </a:solidFill>
              </a:rPr>
              <a:t>GET /api/projects, POST /api/projects, POST /api/projects/clone-template
</a:t>
            </a:r>
            <a:pPr indent="0" marL="0">
              <a:buNone/>
            </a:pPr>
            <a:r>
              <a:rPr lang="en-US" sz="850" b="1" dirty="0">
                <a:solidFill>
                  <a:srgbClr val="38BDF8"/>
                </a:solidFill>
              </a:rPr>
              <a:t>• Lifecycle Handlers: </a:t>
            </a:r>
            <a:pPr indent="0" marL="0">
              <a:buNone/>
            </a:pPr>
            <a:r>
              <a:rPr lang="en-US" sz="850" dirty="0">
                <a:solidFill>
                  <a:srgbClr val="CBD5E1"/>
                </a:solidFill>
              </a:rPr>
              <a:t>POST /api/projects/:id/duplicate, POST /api/projects/:id/reset-matrix
</a:t>
            </a:r>
            <a:pPr indent="0" marL="0">
              <a:buNone/>
            </a:pPr>
            <a:r>
              <a:rPr lang="en-US" sz="850" b="1" dirty="0">
                <a:solidFill>
                  <a:srgbClr val="38BDF8"/>
                </a:solidFill>
              </a:rPr>
              <a:t>• Blueprint Library: </a:t>
            </a:r>
            <a:pPr indent="0" marL="0">
              <a:buNone/>
            </a:pPr>
            <a:r>
              <a:rPr lang="en-US" sz="850" dirty="0">
                <a:solidFill>
                  <a:srgbClr val="CBD5E1"/>
                </a:solidFill>
              </a:rPr>
              <a:t>master_templates table containing pre-seeded JSON cluster schemas
</a:t>
            </a:r>
            <a:pPr indent="0" marL="0">
              <a:buNone/>
            </a:pPr>
            <a:r>
              <a:rPr lang="en-US" sz="850" b="1" dirty="0">
                <a:solidFill>
                  <a:srgbClr val="38BDF8"/>
                </a:solidFill>
              </a:rPr>
              <a:t>• Progress Computation: </a:t>
            </a:r>
            <a:pPr indent="0" marL="0">
              <a:buNone/>
            </a:pPr>
            <a:r>
              <a:rPr lang="en-US" sz="850" dirty="0">
                <a:solidFill>
                  <a:srgbClr val="CBD5E1"/>
                </a:solidFill>
              </a:rPr>
              <a:t>Aggregate sub-queries in SQLite computing read, in-progress, and unread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4_dashboard_surveys.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F59E0B"/>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Active Surveys Dashboard with Live Synthesis Progress Rings &amp; Metric Cards</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Side-by-side active survey cards with OWNER tags, creation dates &amp; action buttons</a:t>
            </a:r>
            <a:endParaRPr lang="en-US" sz="800" dirty="0"/>
          </a:p>
          <a:p>
            <a:pPr indent="0" marL="0">
              <a:lnSpc>
                <a:spcPct val="115000"/>
              </a:lnSpc>
              <a:buNone/>
            </a:pPr>
            <a:r>
              <a:rPr lang="en-US" sz="800" dirty="0">
                <a:solidFill>
                  <a:srgbClr val="CBD5E1"/>
                </a:solidFill>
              </a:rPr>
              <a:t>▸ Live circular synthesis progress bar (67% 2/3 complete on Speech Translation Survey)</a:t>
            </a:r>
            <a:endParaRPr lang="en-US" sz="800" dirty="0"/>
          </a:p>
          <a:p>
            <a:pPr indent="0" marL="0">
              <a:lnSpc>
                <a:spcPct val="115000"/>
              </a:lnSpc>
              <a:buNone/>
            </a:pPr>
            <a:r>
              <a:rPr lang="en-US" sz="800" dirty="0">
                <a:solidFill>
                  <a:srgbClr val="CBD5E1"/>
                </a:solidFill>
              </a:rPr>
              <a:t>▸ Metric counters displaying Total Papers (3), Clusters (3), Read (2), and Screened (0)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10B981"/>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10B981"/>
                </a:solidFill>
              </a:rPr>
              <a:t>MULTI-SOURCE DATA INGESTION  |  SLIDE 05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Automated Paper Ingestion &amp; CrossRef DOI Metadata Resolver</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Batch PDF drag-and-drop ingestion paired with live academic DOI metadata resolution</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10B981"/>
                </a:solidFill>
              </a:rPr>
              <a:t>Slide 5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10B981"/>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CrossRef REST API Auto-Fetch: </a:t>
            </a:r>
            <a:pPr indent="0" marL="0">
              <a:lnSpc>
                <a:spcPct val="115000"/>
              </a:lnSpc>
              <a:buNone/>
            </a:pPr>
            <a:r>
              <a:rPr lang="en-US" sz="950" dirty="0">
                <a:solidFill>
                  <a:srgbClr val="CBD5E1"/>
                </a:solidFill>
              </a:rPr>
              <a:t>Resolves DOI strings via api.crossref.org/works/{doi} with regex cleaning, automatically retrieving publication title, author lists, publication year, journal name, and publisher.</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Heuristic PDF Metadata Extraction: </a:t>
            </a:r>
            <a:pPr indent="0" marL="0">
              <a:lnSpc>
                <a:spcPct val="115000"/>
              </a:lnSpc>
              <a:buNone/>
            </a:pPr>
            <a:r>
              <a:rPr lang="en-US" sz="950" dirty="0">
                <a:solidFill>
                  <a:srgbClr val="CBD5E1"/>
                </a:solidFill>
              </a:rPr>
              <a:t>Integrates pdf-parse within Multer 50MB upload pipelines; scans first 2,000 characters using regular expressions to heuristically discover title, author blocks, arXiv IDs, and abstracts.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Bulk Manuscript Ingestion: </a:t>
            </a:r>
            <a:pPr indent="0" marL="0">
              <a:lnSpc>
                <a:spcPct val="115000"/>
              </a:lnSpc>
              <a:buNone/>
            </a:pPr>
            <a:r>
              <a:rPr lang="en-US" sz="950" dirty="0">
                <a:solidFill>
                  <a:srgbClr val="CBD5E1"/>
                </a:solidFill>
              </a:rPr>
              <a:t>Supports multi-file drag-and-drop uploading; automatically splits batches, indexes binary streams into SQLite paper_files, and stages papers in the Unassigned triage queue.</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Unassigned Papers Staging Tray: </a:t>
            </a:r>
            <a:pPr indent="0" marL="0">
              <a:lnSpc>
                <a:spcPct val="115000"/>
              </a:lnSpc>
              <a:buNone/>
            </a:pPr>
            <a:r>
              <a:rPr lang="en-US" sz="950" dirty="0">
                <a:solidFill>
                  <a:srgbClr val="CBD5E1"/>
                </a:solidFill>
              </a:rPr>
              <a:t>Newly uploaded manuscripts are quarantined in a dedicated staging tray until researchers perform initial PRISMA appraisal and route them into specific taxonomy clusters.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Ingestion APIs: </a:t>
            </a:r>
            <a:pPr indent="0" marL="0">
              <a:buNone/>
            </a:pPr>
            <a:r>
              <a:rPr lang="en-US" sz="850" dirty="0">
                <a:solidFill>
                  <a:srgbClr val="CBD5E1"/>
                </a:solidFill>
              </a:rPr>
              <a:t>POST /api/papers/upload, POST /api/papers/bulk-upload, GET /api/doi/resolve
</a:t>
            </a:r>
            <a:pPr indent="0" marL="0">
              <a:buNone/>
            </a:pPr>
            <a:r>
              <a:rPr lang="en-US" sz="850" b="1" dirty="0">
                <a:solidFill>
                  <a:srgbClr val="38BDF8"/>
                </a:solidFill>
              </a:rPr>
              <a:t>• PDF Parsing Engine: </a:t>
            </a:r>
            <a:pPr indent="0" marL="0">
              <a:buNone/>
            </a:pPr>
            <a:r>
              <a:rPr lang="en-US" sz="850" dirty="0">
                <a:solidFill>
                  <a:srgbClr val="CBD5E1"/>
                </a:solidFill>
              </a:rPr>
              <a:t>pdf-parse library + regular expression metadata heuristics
</a:t>
            </a:r>
            <a:pPr indent="0" marL="0">
              <a:buNone/>
            </a:pPr>
            <a:r>
              <a:rPr lang="en-US" sz="850" b="1" dirty="0">
                <a:solidFill>
                  <a:srgbClr val="38BDF8"/>
                </a:solidFill>
              </a:rPr>
              <a:t>• File Guardrails: </a:t>
            </a:r>
            <a:pPr indent="0" marL="0">
              <a:buNone/>
            </a:pPr>
            <a:r>
              <a:rPr lang="en-US" sz="850" dirty="0">
                <a:solidFill>
                  <a:srgbClr val="CBD5E1"/>
                </a:solidFill>
              </a:rPr>
              <a:t>Multer 50MB limit, PDF MIME verification, disk &amp; SQLite BLOB mirroring
</a:t>
            </a:r>
            <a:pPr indent="0" marL="0">
              <a:buNone/>
            </a:pPr>
            <a:r>
              <a:rPr lang="en-US" sz="850" b="1" dirty="0">
                <a:solidFill>
                  <a:srgbClr val="38BDF8"/>
                </a:solidFill>
              </a:rPr>
              <a:t>• Auto-Triage: </a:t>
            </a:r>
            <a:pPr indent="0" marL="0">
              <a:buNone/>
            </a:pPr>
            <a:r>
              <a:rPr lang="en-US" sz="850" dirty="0">
                <a:solidFill>
                  <a:srgbClr val="CBD5E1"/>
                </a:solidFill>
              </a:rPr>
              <a:t>Automatic assignment to project staging tray when cluster_id is null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5_paper_ingestion_modal.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10B981"/>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Paper Ingestion Modal with CrossRef DOI Auto-Fetch &amp; PDF Drag-and-Drop</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DOI Auto-Fetch engine resolving CrossRef &amp; OpenAlex metadata in real time</a:t>
            </a:r>
            <a:endParaRPr lang="en-US" sz="800" dirty="0"/>
          </a:p>
          <a:p>
            <a:pPr indent="0" marL="0">
              <a:lnSpc>
                <a:spcPct val="115000"/>
              </a:lnSpc>
              <a:buNone/>
            </a:pPr>
            <a:r>
              <a:rPr lang="en-US" sz="800" dirty="0">
                <a:solidFill>
                  <a:srgbClr val="CBD5E1"/>
                </a:solidFill>
              </a:rPr>
              <a:t>▸ Metadata input fields: Paper Title, Authors, Publication Year, Pub / Conf / Journal</a:t>
            </a:r>
            <a:endParaRPr lang="en-US" sz="800" dirty="0"/>
          </a:p>
          <a:p>
            <a:pPr indent="0" marL="0">
              <a:lnSpc>
                <a:spcPct val="115000"/>
              </a:lnSpc>
              <a:buNone/>
            </a:pPr>
            <a:r>
              <a:rPr lang="en-US" sz="800" dirty="0">
                <a:solidFill>
                  <a:srgbClr val="CBD5E1"/>
                </a:solidFill>
              </a:rPr>
              <a:t>▸ Drag-and-drop PDF dropzone attaching local manuscripts with instant split-screen linkage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38BDF8"/>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38BDF8"/>
                </a:solidFill>
              </a:rPr>
              <a:t>CORE WORKBENCH &amp; MATRIX GRID  |  SLIDE 06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High-Density Master Matrix Workbench &amp; Inline Editing</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Excel-like data grid with optimistic UI updates, multi-criteria filtering, and KaTeX math</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38BDF8"/>
                </a:solidFill>
              </a:rPr>
              <a:t>Slide 6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38BDF8"/>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Unified High-Density Data Grid: </a:t>
            </a:r>
            <a:pPr indent="0" marL="0">
              <a:lnSpc>
                <a:spcPct val="115000"/>
              </a:lnSpc>
              <a:buNone/>
            </a:pPr>
            <a:r>
              <a:rPr lang="en-US" sz="950" dirty="0">
                <a:solidFill>
                  <a:srgbClr val="CBD5E1"/>
                </a:solidFill>
              </a:rPr>
              <a:t>Displays literature surveys in a consolidated matrix table showing paper title, cluster category, publication year, venue, math models, strengths, gaps, and custom variables.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Optimistic Inline Cell Editing: </a:t>
            </a:r>
            <a:pPr indent="0" marL="0">
              <a:lnSpc>
                <a:spcPct val="115000"/>
              </a:lnSpc>
              <a:buNone/>
            </a:pPr>
            <a:r>
              <a:rPr lang="en-US" sz="950" dirty="0">
                <a:solidFill>
                  <a:srgbClr val="CBD5E1"/>
                </a:solidFill>
              </a:rPr>
              <a:t>Researchers can edit dynamic column values directly within table cells; updates trigger debounced background POST /api/columns/values/batch requests without reloading the grid.</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Tri-State Reading Workflow: </a:t>
            </a:r>
            <a:pPr indent="0" marL="0">
              <a:lnSpc>
                <a:spcPct val="115000"/>
              </a:lnSpc>
              <a:buNone/>
            </a:pPr>
            <a:r>
              <a:rPr lang="en-US" sz="950" dirty="0">
                <a:solidFill>
                  <a:srgbClr val="CBD5E1"/>
                </a:solidFill>
              </a:rPr>
              <a:t>One-click cycling of reading status pills between unread (gray), in_progress (amber), and read (emerald), updating project dashboard metrics in real time.</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Live KaTeX Equation Typesetting: </a:t>
            </a:r>
            <a:pPr indent="0" marL="0">
              <a:lnSpc>
                <a:spcPct val="115000"/>
              </a:lnSpc>
              <a:buNone/>
            </a:pPr>
            <a:r>
              <a:rPr lang="en-US" sz="950" dirty="0">
                <a:solidFill>
                  <a:srgbClr val="CBD5E1"/>
                </a:solidFill>
              </a:rPr>
              <a:t>Mathematical expressions enclosed in $...$ or $$...$$ are instantly rendered as high-fidelity LaTeX notation via client-side KaTeX rendering in table cells and popovers.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Matrix Grid JS: </a:t>
            </a:r>
            <a:pPr indent="0" marL="0">
              <a:buNone/>
            </a:pPr>
            <a:r>
              <a:rPr lang="en-US" sz="850" dirty="0">
                <a:solidFill>
                  <a:srgbClr val="CBD5E1"/>
                </a:solidFill>
              </a:rPr>
              <a:t>Frontend/js/workspace/matrix.js (1,800+ lines of reactive grid logic)
</a:t>
            </a:r>
            <a:pPr indent="0" marL="0">
              <a:buNone/>
            </a:pPr>
            <a:r>
              <a:rPr lang="en-US" sz="850" b="1" dirty="0">
                <a:solidFill>
                  <a:srgbClr val="38BDF8"/>
                </a:solidFill>
              </a:rPr>
              <a:t>• Cell Value API: </a:t>
            </a:r>
            <a:pPr indent="0" marL="0">
              <a:buNone/>
            </a:pPr>
            <a:r>
              <a:rPr lang="en-US" sz="850" dirty="0">
                <a:solidFill>
                  <a:srgbClr val="CBD5E1"/>
                </a:solidFill>
              </a:rPr>
              <a:t>POST /api/columns/values (single upsert), POST /api/columns/values/batch
</a:t>
            </a:r>
            <a:pPr indent="0" marL="0">
              <a:buNone/>
            </a:pPr>
            <a:r>
              <a:rPr lang="en-US" sz="850" b="1" dirty="0">
                <a:solidFill>
                  <a:srgbClr val="38BDF8"/>
                </a:solidFill>
              </a:rPr>
              <a:t>• State Persistence: </a:t>
            </a:r>
            <a:pPr indent="0" marL="0">
              <a:buNone/>
            </a:pPr>
            <a:r>
              <a:rPr lang="en-US" sz="850" dirty="0">
                <a:solidFill>
                  <a:srgbClr val="CBD5E1"/>
                </a:solidFill>
              </a:rPr>
              <a:t>Column ordering, visible/hidden state, and aliases in localStorage
</a:t>
            </a:r>
            <a:pPr indent="0" marL="0">
              <a:buNone/>
            </a:pPr>
            <a:r>
              <a:rPr lang="en-US" sz="850" b="1" dirty="0">
                <a:solidFill>
                  <a:srgbClr val="38BDF8"/>
                </a:solidFill>
              </a:rPr>
              <a:t>• Math Engine: </a:t>
            </a:r>
            <a:pPr indent="0" marL="0">
              <a:buNone/>
            </a:pPr>
            <a:r>
              <a:rPr lang="en-US" sz="850" dirty="0">
                <a:solidFill>
                  <a:srgbClr val="CBD5E1"/>
                </a:solidFill>
              </a:rPr>
              <a:t>KaTeX v0.16.8 client-side auto-render extension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6_master_matrix_grid.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38BDF8"/>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Master Matrix Table with Status Badges, Dynamic Columns &amp; Synthesis Synthesizer</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Live rows showing Seamless (Meta AI), UnitY (ACL), and Monotonic Attention (Interspeech)</a:t>
            </a:r>
            <a:endParaRPr lang="en-US" sz="800" dirty="0"/>
          </a:p>
          <a:p>
            <a:pPr indent="0" marL="0">
              <a:lnSpc>
                <a:spcPct val="115000"/>
              </a:lnSpc>
              <a:buNone/>
            </a:pPr>
            <a:r>
              <a:rPr lang="en-US" sz="800" dirty="0">
                <a:solidFill>
                  <a:srgbClr val="CBD5E1"/>
                </a:solidFill>
              </a:rPr>
              <a:t>▸ Reading status pills (green read dot, amber in-progress dot) with cluster categorization</a:t>
            </a:r>
            <a:endParaRPr lang="en-US" sz="800" dirty="0"/>
          </a:p>
          <a:p>
            <a:pPr indent="0" marL="0">
              <a:lnSpc>
                <a:spcPct val="115000"/>
              </a:lnSpc>
              <a:buNone/>
            </a:pPr>
            <a:r>
              <a:rPr lang="en-US" sz="800" dirty="0">
                <a:solidFill>
                  <a:srgbClr val="CBD5E1"/>
                </a:solidFill>
              </a:rPr>
              <a:t>▸ Cluster Insights &amp; Unique Value Summary below grid with #1, #2, #3 paper citation badges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A855F7"/>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A855F7"/>
                </a:solidFill>
              </a:rPr>
              <a:t>TAXONOMY MATRIX &amp; SCHEMA EVOLUTION  |  SLIDE 07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Hierarchical Taxonomy &amp; Dynamic Column Splitting</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Runtime schema evolution enabling multi-level scientific variables and nested sub-headers</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A855F7"/>
                </a:solidFill>
              </a:rPr>
              <a:t>Slide 7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A855F7"/>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Zero-Downtime Dynamic Columns: </a:t>
            </a:r>
            <a:pPr indent="0" marL="0">
              <a:lnSpc>
                <a:spcPct val="115000"/>
              </a:lnSpc>
              <a:buNone/>
            </a:pPr>
            <a:r>
              <a:rPr lang="en-US" sz="950" dirty="0">
                <a:solidFill>
                  <a:srgbClr val="CBD5E1"/>
                </a:solidFill>
              </a:rPr>
              <a:t>Researchers can append custom benchmark variables (e.g. Time Complexity, Sample Size, Dataset) to specific clusters or globally across projects without altering SQLite tables.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Hierarchical Column Splitting Engine: </a:t>
            </a:r>
            <a:pPr indent="0" marL="0">
              <a:lnSpc>
                <a:spcPct val="115000"/>
              </a:lnSpc>
              <a:buNone/>
            </a:pPr>
            <a:r>
              <a:rPr lang="en-US" sz="950" dirty="0">
                <a:solidFill>
                  <a:srgbClr val="CBD5E1"/>
                </a:solidFill>
              </a:rPr>
              <a:t>Converts a flat matrix column into a multi-column grouped parent (e.g. Evaluation Metrics splits into BLEU, Lagging, and WER) using relational parent_column_id pointers.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Multi-Level Header Rendering: </a:t>
            </a:r>
            <a:pPr indent="0" marL="0">
              <a:lnSpc>
                <a:spcPct val="115000"/>
              </a:lnSpc>
              <a:buNone/>
            </a:pPr>
            <a:r>
              <a:rPr lang="en-US" sz="950" dirty="0">
                <a:solidFill>
                  <a:srgbClr val="CBD5E1"/>
                </a:solidFill>
              </a:rPr>
              <a:t>Generates complex two-tier HTML thead structures with dynamic colspan and rowspan attributes, matching the rigorous formatting standards of academic survey tables.</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Lossless Column Unsplitting: </a:t>
            </a:r>
            <a:pPr indent="0" marL="0">
              <a:lnSpc>
                <a:spcPct val="115000"/>
              </a:lnSpc>
              <a:buNone/>
            </a:pPr>
            <a:r>
              <a:rPr lang="en-US" sz="950" dirty="0">
                <a:solidFill>
                  <a:srgbClr val="CBD5E1"/>
                </a:solidFill>
              </a:rPr>
              <a:t>The /unsplit endpoint safely merges child sub-columns back into a unified parent container without data corruption, concatenating sub-values cleanly.</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Endpoints: </a:t>
            </a:r>
            <a:pPr indent="0" marL="0">
              <a:buNone/>
            </a:pPr>
            <a:r>
              <a:rPr lang="en-US" sz="850" dirty="0">
                <a:solidFill>
                  <a:srgbClr val="CBD5E1"/>
                </a:solidFill>
              </a:rPr>
              <a:t>POST /api/columns, POST /api/columns/split, POST /api/columns/unsplit
</a:t>
            </a:r>
            <a:pPr indent="0" marL="0">
              <a:buNone/>
            </a:pPr>
            <a:r>
              <a:rPr lang="en-US" sz="850" b="1" dirty="0">
                <a:solidFill>
                  <a:srgbClr val="38BDF8"/>
                </a:solidFill>
              </a:rPr>
              <a:t>• Data Model: </a:t>
            </a:r>
            <a:pPr indent="0" marL="0">
              <a:buNone/>
            </a:pPr>
            <a:r>
              <a:rPr lang="en-US" sz="850" dirty="0">
                <a:solidFill>
                  <a:srgbClr val="CBD5E1"/>
                </a:solidFill>
              </a:rPr>
              <a:t>dynamic_columns table with self-referencing parent_column_id
</a:t>
            </a:r>
            <a:pPr indent="0" marL="0">
              <a:buNone/>
            </a:pPr>
            <a:r>
              <a:rPr lang="en-US" sz="850" b="1" dirty="0">
                <a:solidFill>
                  <a:srgbClr val="38BDF8"/>
                </a:solidFill>
              </a:rPr>
              <a:t>• Value Storage: </a:t>
            </a:r>
            <a:pPr indent="0" marL="0">
              <a:buNone/>
            </a:pPr>
            <a:r>
              <a:rPr lang="en-US" sz="850" dirty="0">
                <a:solidFill>
                  <a:srgbClr val="CBD5E1"/>
                </a:solidFill>
              </a:rPr>
              <a:t>paper_column_values table (paper_id, column_id, value) EAV pattern
</a:t>
            </a:r>
            <a:pPr indent="0" marL="0">
              <a:buNone/>
            </a:pPr>
            <a:r>
              <a:rPr lang="en-US" sz="850" b="1" dirty="0">
                <a:solidFill>
                  <a:srgbClr val="38BDF8"/>
                </a:solidFill>
              </a:rPr>
              <a:t>• Colspan Export: </a:t>
            </a:r>
            <a:pPr indent="0" marL="0">
              <a:buNone/>
            </a:pPr>
            <a:r>
              <a:rPr lang="en-US" sz="850" dirty="0">
                <a:solidFill>
                  <a:srgbClr val="CBD5E1"/>
                </a:solidFill>
              </a:rPr>
              <a:t>SheetJS cell merge ranges dynamically computed from parent/child count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7_dynamic_column_split.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A855F7"/>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Column Splitting Modal Configuring Hierarchical Multi-Level Sub-Headers</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Split Column modal with custom column selector and sub-column quantity counter (1 to 10)</a:t>
            </a:r>
            <a:endParaRPr lang="en-US" sz="800" dirty="0"/>
          </a:p>
          <a:p>
            <a:pPr indent="0" marL="0">
              <a:lnSpc>
                <a:spcPct val="115000"/>
              </a:lnSpc>
              <a:buNone/>
            </a:pPr>
            <a:r>
              <a:rPr lang="en-US" sz="800" dirty="0">
                <a:solidFill>
                  <a:srgbClr val="CBD5E1"/>
                </a:solidFill>
              </a:rPr>
              <a:t>▸ Dynamic sub-column label inputs (#1 Sub 1, #2 Sub 2) with + Add Another Sub-Column button</a:t>
            </a:r>
            <a:endParaRPr lang="en-US" sz="800" dirty="0"/>
          </a:p>
          <a:p>
            <a:pPr indent="0" marL="0">
              <a:lnSpc>
                <a:spcPct val="115000"/>
              </a:lnSpc>
              <a:buNone/>
            </a:pPr>
            <a:r>
              <a:rPr lang="en-US" sz="800" dirty="0">
                <a:solidFill>
                  <a:srgbClr val="CBD5E1"/>
                </a:solidFill>
              </a:rPr>
              <a:t>▸ Zero-downtime execution creating hierarchical sub-columns across all papers in the cluster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EC4899"/>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EC4899"/>
                </a:solidFill>
              </a:rPr>
              <a:t>DOCUMENT READING &amp; DEEP EXTRACTION  |  SLIDE 08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Split-Screen PDF.js Reviewer &amp; KaTeX Math Extraction</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Side-by-side manuscript inspection with persistent resizer and live LaTeX preview</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EC4899"/>
                </a:solidFill>
              </a:rPr>
              <a:t>Slide 8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EC4899"/>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Integrated Split-Screen Reading Canvas: </a:t>
            </a:r>
            <a:pPr indent="0" marL="0">
              <a:lnSpc>
                <a:spcPct val="115000"/>
              </a:lnSpc>
              <a:buNone/>
            </a:pPr>
            <a:r>
              <a:rPr lang="en-US" sz="950" dirty="0">
                <a:solidFill>
                  <a:srgbClr val="CBD5E1"/>
                </a:solidFill>
              </a:rPr>
              <a:t>Positions the embedded PDF.js reader iframe on the left and comprehensive data extraction forms on the right, eliminating context switching between external PDF viewers and tables.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Draggable Split Pane Resizer: </a:t>
            </a:r>
            <a:pPr indent="0" marL="0">
              <a:lnSpc>
                <a:spcPct val="115000"/>
              </a:lnSpc>
              <a:buNone/>
            </a:pPr>
            <a:r>
              <a:rPr lang="en-US" sz="950" dirty="0">
                <a:solidFill>
                  <a:srgbClr val="CBD5E1"/>
                </a:solidFill>
              </a:rPr>
              <a:t>Smooth draggable divider bar allows researchers to customize viewer ratios (18% to 80%), with position preferences stored in localStorage across reading sessions.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Live KaTeX Equation Sandbox: </a:t>
            </a:r>
            <a:pPr indent="0" marL="0">
              <a:lnSpc>
                <a:spcPct val="115000"/>
              </a:lnSpc>
              <a:buNone/>
            </a:pPr>
            <a:r>
              <a:rPr lang="en-US" sz="950" dirty="0">
                <a:solidFill>
                  <a:srgbClr val="CBD5E1"/>
                </a:solidFill>
              </a:rPr>
              <a:t>Real-time two-way formula previewer converts LaTeX syntax into formatted mathematical notation on keypress, validating complex objective functions before saving.</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Auto-Saving Attribute Pipeline: </a:t>
            </a:r>
            <a:pPr indent="0" marL="0">
              <a:lnSpc>
                <a:spcPct val="115000"/>
              </a:lnSpc>
              <a:buNone/>
            </a:pPr>
            <a:r>
              <a:rPr lang="en-US" sz="950" dirty="0">
                <a:solidFill>
                  <a:srgbClr val="CBD5E1"/>
                </a:solidFill>
              </a:rPr>
              <a:t>Intuitions, core equations, strengths, gaps, advantages, and criticisms auto-save via debounced REST PUT requests to /api/papers/:id with visual save-state indicators.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Review Engines: </a:t>
            </a:r>
            <a:pPr indent="0" marL="0">
              <a:buNone/>
            </a:pPr>
            <a:r>
              <a:rPr lang="en-US" sz="850" dirty="0">
                <a:solidFill>
                  <a:srgbClr val="CBD5E1"/>
                </a:solidFill>
              </a:rPr>
              <a:t>Frontend/review.html (Production) &amp; Frontend/review_react.html (React 18)
</a:t>
            </a:r>
            <a:pPr indent="0" marL="0">
              <a:buNone/>
            </a:pPr>
            <a:r>
              <a:rPr lang="en-US" sz="850" b="1" dirty="0">
                <a:solidFill>
                  <a:srgbClr val="38BDF8"/>
                </a:solidFill>
              </a:rPr>
              <a:t>• PDF Renderer: </a:t>
            </a:r>
            <a:pPr indent="0" marL="0">
              <a:buNone/>
            </a:pPr>
            <a:r>
              <a:rPr lang="en-US" sz="850" dirty="0">
                <a:solidFill>
                  <a:srgbClr val="CBD5E1"/>
                </a:solidFill>
              </a:rPr>
              <a:t>Mozilla PDF.js v3.11 with canvas rendering, zoom, and page navigation
</a:t>
            </a:r>
            <a:pPr indent="0" marL="0">
              <a:buNone/>
            </a:pPr>
            <a:r>
              <a:rPr lang="en-US" sz="850" b="1" dirty="0">
                <a:solidFill>
                  <a:srgbClr val="38BDF8"/>
                </a:solidFill>
              </a:rPr>
              <a:t>• Split Persistence: </a:t>
            </a:r>
            <a:pPr indent="0" marL="0">
              <a:buNone/>
            </a:pPr>
            <a:r>
              <a:rPr lang="en-US" sz="850" dirty="0">
                <a:solidFill>
                  <a:srgbClr val="CBD5E1"/>
                </a:solidFill>
              </a:rPr>
              <a:t>litsphere_review_split stored in localStorage with clamp bounds
</a:t>
            </a:r>
            <a:pPr indent="0" marL="0">
              <a:buNone/>
            </a:pPr>
            <a:r>
              <a:rPr lang="en-US" sz="850" b="1" dirty="0">
                <a:solidFill>
                  <a:srgbClr val="38BDF8"/>
                </a:solidFill>
              </a:rPr>
              <a:t>• Data Sync API: </a:t>
            </a:r>
            <a:pPr indent="0" marL="0">
              <a:buNone/>
            </a:pPr>
            <a:r>
              <a:rPr lang="en-US" sz="850" dirty="0">
                <a:solidFill>
                  <a:srgbClr val="CBD5E1"/>
                </a:solidFill>
              </a:rPr>
              <a:t>PUT /api/papers/:id with debounced JSON payload transmission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8_splitscreen_reviewer.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EC4899"/>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Split-Screen PDF Reader (Seamless Paper) Alongside Math &amp; Attribute Extraction</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Left: Full Mozilla PDF.js canvas rendering the 145-page Meta AI SeamlessM4T research paper</a:t>
            </a:r>
            <a:endParaRPr lang="en-US" sz="800" dirty="0"/>
          </a:p>
          <a:p>
            <a:pPr indent="0" marL="0">
              <a:lnSpc>
                <a:spcPct val="115000"/>
              </a:lnSpc>
              <a:buNone/>
            </a:pPr>
            <a:r>
              <a:rPr lang="en-US" sz="800" dirty="0">
                <a:solidFill>
                  <a:srgbClr val="CBD5E1"/>
                </a:solidFill>
              </a:rPr>
              <a:t>▸ Right: Extracted variables (Target Modality, Vocoder, BLEU, Average Lagging, ASR WER)</a:t>
            </a:r>
            <a:endParaRPr lang="en-US" sz="800" dirty="0"/>
          </a:p>
          <a:p>
            <a:pPr indent="0" marL="0">
              <a:lnSpc>
                <a:spcPct val="115000"/>
              </a:lnSpc>
              <a:buNone/>
            </a:pPr>
            <a:r>
              <a:rPr lang="en-US" sz="800" dirty="0">
                <a:solidFill>
                  <a:srgbClr val="CBD5E1"/>
                </a:solidFill>
              </a:rPr>
              <a:t>▸ Live breadcrumbs (#1 Seamless) with quick status toggle and split resize handle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10B981"/>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10B981"/>
                </a:solidFill>
              </a:rPr>
              <a:t>SYSTEMATIC REVIEW METHODOLOGY  |  SLIDE 09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PRISMA 2020 Blind Screening &amp; Page-Anchored Annotations</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Rigorous systematic appraisal with structured exclusion reasons and supervisor audit trails</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10B981"/>
                </a:solidFill>
              </a:rPr>
              <a:t>Slide 9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10B981"/>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PRISMA 2020 Systematic Compliance: </a:t>
            </a:r>
            <a:pPr indent="0" marL="0">
              <a:lnSpc>
                <a:spcPct val="115000"/>
              </a:lnSpc>
              <a:buNone/>
            </a:pPr>
            <a:r>
              <a:rPr lang="en-US" sz="950" dirty="0">
                <a:solidFill>
                  <a:srgbClr val="CBD5E1"/>
                </a:solidFill>
              </a:rPr>
              <a:t>Provides structured quality appraisal controls for systematic reviews, recording independent reviewer decisions (included, excluded, uncertain) in paper_screening.</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Standardized Exclusion Taxonomy: </a:t>
            </a:r>
            <a:pPr indent="0" marL="0">
              <a:lnSpc>
                <a:spcPct val="115000"/>
              </a:lnSpc>
              <a:buNone/>
            </a:pPr>
            <a:r>
              <a:rPr lang="en-US" sz="950" dirty="0">
                <a:solidFill>
                  <a:srgbClr val="CBD5E1"/>
                </a:solidFill>
              </a:rPr>
              <a:t>Pre-configured exclusion reasons include Wrong Study Design, Insufficient Data, Non-Peer Reviewed, Duplicate Study, Language Barrier, and Outdated Benchmark.</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Page-Anchored Quote Annotations: </a:t>
            </a:r>
            <a:pPr indent="0" marL="0">
              <a:lnSpc>
                <a:spcPct val="115000"/>
              </a:lnSpc>
              <a:buNone/>
            </a:pPr>
            <a:r>
              <a:rPr lang="en-US" sz="950" dirty="0">
                <a:solidFill>
                  <a:srgbClr val="CBD5E1"/>
                </a:solidFill>
              </a:rPr>
              <a:t>Reviewers highlight or type specific evidence from manuscripts, linking comments directly to specific PDF page numbers (page_number) with quoted excerpts (quote_text).</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Multi-Reviewer Collaboration Trail: </a:t>
            </a:r>
            <a:pPr indent="0" marL="0">
              <a:lnSpc>
                <a:spcPct val="115000"/>
              </a:lnSpc>
              <a:buNone/>
            </a:pPr>
            <a:r>
              <a:rPr lang="en-US" sz="950" dirty="0">
                <a:solidFill>
                  <a:srgbClr val="CBD5E1"/>
                </a:solidFill>
              </a:rPr>
              <a:t>Tracks who performed each appraisal with timestamped audit trails, allowing supervisors and co-authors to inspect evaluation rationales without mutual bias.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Screening Routes: </a:t>
            </a:r>
            <a:pPr indent="0" marL="0">
              <a:buNone/>
            </a:pPr>
            <a:r>
              <a:rPr lang="en-US" sz="850" dirty="0">
                <a:solidFill>
                  <a:srgbClr val="CBD5E1"/>
                </a:solidFill>
              </a:rPr>
              <a:t>GET /api/reviews/screening/:paperId, POST /api/reviews/screening
</a:t>
            </a:r>
            <a:pPr indent="0" marL="0">
              <a:buNone/>
            </a:pPr>
            <a:r>
              <a:rPr lang="en-US" sz="850" b="1" dirty="0">
                <a:solidFill>
                  <a:srgbClr val="38BDF8"/>
                </a:solidFill>
              </a:rPr>
              <a:t>• Comment Routes: </a:t>
            </a:r>
            <a:pPr indent="0" marL="0">
              <a:buNone/>
            </a:pPr>
            <a:r>
              <a:rPr lang="en-US" sz="850" dirty="0">
                <a:solidFill>
                  <a:srgbClr val="CBD5E1"/>
                </a:solidFill>
              </a:rPr>
              <a:t>GET /api/reviews/comments/:paperId, POST /api/reviews/comments
</a:t>
            </a:r>
            <a:pPr indent="0" marL="0">
              <a:buNone/>
            </a:pPr>
            <a:r>
              <a:rPr lang="en-US" sz="850" b="1" dirty="0">
                <a:solidFill>
                  <a:srgbClr val="38BDF8"/>
                </a:solidFill>
              </a:rPr>
              <a:t>• Database Schema: </a:t>
            </a:r>
            <a:pPr indent="0" marL="0">
              <a:buNone/>
            </a:pPr>
            <a:r>
              <a:rPr lang="en-US" sz="850" dirty="0">
                <a:solidFill>
                  <a:srgbClr val="CBD5E1"/>
                </a:solidFill>
              </a:rPr>
              <a:t>paper_screening &amp; paper_comments with foreign keys to papers &amp; users
</a:t>
            </a:r>
            <a:pPr indent="0" marL="0">
              <a:buNone/>
            </a:pPr>
            <a:r>
              <a:rPr lang="en-US" sz="850" b="1" dirty="0">
                <a:solidFill>
                  <a:srgbClr val="38BDF8"/>
                </a:solidFill>
              </a:rPr>
              <a:t>• PRISMA Tracking: </a:t>
            </a:r>
            <a:pPr indent="0" marL="0">
              <a:buNone/>
            </a:pPr>
            <a:r>
              <a:rPr lang="en-US" sz="850" dirty="0">
                <a:solidFill>
                  <a:srgbClr val="CBD5E1"/>
                </a:solidFill>
              </a:rPr>
              <a:t>Live aggregation of screening counts for PRISMA flow diagram reporting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09_prisma_screening.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10B981"/>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PRISMA 2020 Quality Appraisal Panel with Exclusion Reasons &amp; Peer Notes</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Blind Screening decision buttons: [Include] (highlighted active), [Exclude], [Uncertain]</a:t>
            </a:r>
            <a:endParaRPr lang="en-US" sz="800" dirty="0"/>
          </a:p>
          <a:p>
            <a:pPr indent="0" marL="0">
              <a:lnSpc>
                <a:spcPct val="115000"/>
              </a:lnSpc>
              <a:buNone/>
            </a:pPr>
            <a:r>
              <a:rPr lang="en-US" sz="800" dirty="0">
                <a:solidFill>
                  <a:srgbClr val="CBD5E1"/>
                </a:solidFill>
              </a:rPr>
              <a:t>▸ Exclusion reason taxonomy dropdown and saved appraisal state badge</a:t>
            </a:r>
            <a:endParaRPr lang="en-US" sz="800" dirty="0"/>
          </a:p>
          <a:p>
            <a:pPr indent="0" marL="0">
              <a:lnSpc>
                <a:spcPct val="115000"/>
              </a:lnSpc>
              <a:buNone/>
            </a:pPr>
            <a:r>
              <a:rPr lang="en-US" sz="800" dirty="0">
                <a:solidFill>
                  <a:srgbClr val="CBD5E1"/>
                </a:solidFill>
              </a:rPr>
              <a:t>▸ Collaborator comments section with page-anchored quotes for peer consensus review</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F59E0B"/>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F59E0B"/>
                </a:solidFill>
              </a:rPr>
              <a:t>COLLABORATION &amp; ACCESS CONTROL  |  SLIDE 10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4-Tier Academic RBAC &amp; Secure Supervisor Sharing</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Fine-grained institutional roles and cryptographically signed public review links</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F59E0B"/>
                </a:solidFill>
              </a:rPr>
              <a:t>Slide 10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F59E0B"/>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4-Tier Role-Based Access Control: </a:t>
            </a:r>
            <a:pPr indent="0" marL="0">
              <a:lnSpc>
                <a:spcPct val="115000"/>
              </a:lnSpc>
              <a:buNone/>
            </a:pPr>
            <a:r>
              <a:rPr lang="en-US" sz="950" dirty="0">
                <a:solidFill>
                  <a:srgbClr val="CBD5E1"/>
                </a:solidFill>
              </a:rPr>
              <a:t>Granular permissions: Owner (full survey control), Editor (co-author editing papers &amp; matrix), Reviewer (advisor PRISMA screening &amp; notes), and Viewer (read-only inspect &amp; export).</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Instant Collaborator Invitation: </a:t>
            </a:r>
            <a:pPr indent="0" marL="0">
              <a:lnSpc>
                <a:spcPct val="115000"/>
              </a:lnSpc>
              <a:buNone/>
            </a:pPr>
            <a:r>
              <a:rPr lang="en-US" sz="950" dirty="0">
                <a:solidFill>
                  <a:srgbClr val="CBD5E1"/>
                </a:solidFill>
              </a:rPr>
              <a:t>Owners can invite colleagues by email or username; the system verifies account presence and binds the user in project_members with immediate workspace access.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Cryptographic Supervisor Share Links: </a:t>
            </a:r>
            <a:pPr indent="0" marL="0">
              <a:lnSpc>
                <a:spcPct val="115000"/>
              </a:lnSpc>
              <a:buNone/>
            </a:pPr>
            <a:r>
              <a:rPr lang="en-US" sz="950" dirty="0">
                <a:solidFill>
                  <a:srgbClr val="CBD5E1"/>
                </a:solidFill>
              </a:rPr>
              <a:t>Generates secure 64-character hex tokens (crypto.randomBytes(32)) for external advisors to inspect live benchmark matrices without creating an account (/shared/:token).</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Survey Ownership Transfer Protocol: </a:t>
            </a:r>
            <a:pPr indent="0" marL="0">
              <a:lnSpc>
                <a:spcPct val="115000"/>
              </a:lnSpc>
              <a:buNone/>
            </a:pPr>
            <a:r>
              <a:rPr lang="en-US" sz="950" dirty="0">
                <a:solidFill>
                  <a:srgbClr val="CBD5E1"/>
                </a:solidFill>
              </a:rPr>
              <a:t>Enables survey leads to seamlessly hand over ownership (POST /api/projects/:id/transfer-ownership) while gracefully demoting the creator to an Editor.</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RBAC Routes: </a:t>
            </a:r>
            <a:pPr indent="0" marL="0">
              <a:buNone/>
            </a:pPr>
            <a:r>
              <a:rPr lang="en-US" sz="850" dirty="0">
                <a:solidFill>
                  <a:srgbClr val="CBD5E1"/>
                </a:solidFill>
              </a:rPr>
              <a:t>GET /api/collaboration/:id/members, POST .../invite, PUT .../role, DELETE
</a:t>
            </a:r>
            <a:pPr indent="0" marL="0">
              <a:buNone/>
            </a:pPr>
            <a:r>
              <a:rPr lang="en-US" sz="850" b="1" dirty="0">
                <a:solidFill>
                  <a:srgbClr val="38BDF8"/>
                </a:solidFill>
              </a:rPr>
              <a:t>• Share Links API: </a:t>
            </a:r>
            <a:pPr indent="0" marL="0">
              <a:buNone/>
            </a:pPr>
            <a:r>
              <a:rPr lang="en-US" sz="850" dirty="0">
                <a:solidFill>
                  <a:srgbClr val="CBD5E1"/>
                </a:solidFill>
              </a:rPr>
              <a:t>POST /api/projects/:id/share-link, GET /api/projects/shared/:token
</a:t>
            </a:r>
            <a:pPr indent="0" marL="0">
              <a:buNone/>
            </a:pPr>
            <a:r>
              <a:rPr lang="en-US" sz="850" b="1" dirty="0">
                <a:solidFill>
                  <a:srgbClr val="38BDF8"/>
                </a:solidFill>
              </a:rPr>
              <a:t>• Security Guard: </a:t>
            </a:r>
            <a:pPr indent="0" marL="0">
              <a:buNone/>
            </a:pPr>
            <a:r>
              <a:rPr lang="en-US" sz="850" dirty="0">
                <a:solidFill>
                  <a:srgbClr val="CBD5E1"/>
                </a:solidFill>
              </a:rPr>
              <a:t>requireProjectRole middleware verifying project_members against JWT
</a:t>
            </a:r>
            <a:pPr indent="0" marL="0">
              <a:buNone/>
            </a:pPr>
            <a:r>
              <a:rPr lang="en-US" sz="850" b="1" dirty="0">
                <a:solidFill>
                  <a:srgbClr val="38BDF8"/>
                </a:solidFill>
              </a:rPr>
              <a:t>• Audit Trail: </a:t>
            </a:r>
            <a:pPr indent="0" marL="0">
              <a:buNone/>
            </a:pPr>
            <a:r>
              <a:rPr lang="en-US" sz="850" dirty="0">
                <a:solidFill>
                  <a:srgbClr val="CBD5E1"/>
                </a:solidFill>
              </a:rPr>
              <a:t>Role promotions, demotions, and invitations logged in audit_logs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10_collaboration_rbac.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F59E0B"/>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Project Team &amp; Access Roles Modal Showing Roster and Role Assignments</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Role permission matrix: Owner, Editor (Co-Author), Reviewer (Advisor), Viewer (Read-only)</a:t>
            </a:r>
            <a:endParaRPr lang="en-US" sz="800" dirty="0"/>
          </a:p>
          <a:p>
            <a:pPr indent="0" marL="0">
              <a:lnSpc>
                <a:spcPct val="115000"/>
              </a:lnSpc>
              <a:buNone/>
            </a:pPr>
            <a:r>
              <a:rPr lang="en-US" sz="800" dirty="0">
                <a:solidFill>
                  <a:srgbClr val="CBD5E1"/>
                </a:solidFill>
              </a:rPr>
              <a:t>▸ Invite collaborator form with instant institutional email/username lookup</a:t>
            </a:r>
            <a:endParaRPr lang="en-US" sz="800" dirty="0"/>
          </a:p>
          <a:p>
            <a:pPr indent="0" marL="0">
              <a:lnSpc>
                <a:spcPct val="115000"/>
              </a:lnSpc>
              <a:buNone/>
            </a:pPr>
            <a:r>
              <a:rPr lang="en-US" sz="800" dirty="0">
                <a:solidFill>
                  <a:srgbClr val="CBD5E1"/>
                </a:solidFill>
              </a:rPr>
              <a:t>▸ Research team roster displaying member avatars, email addresses, and active role tags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38BDF8"/>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38BDF8"/>
                </a:solidFill>
              </a:rPr>
              <a:t>SYNTHESIS &amp; PUBLICATION EXPORT  |  SLIDE 11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Cluster Insights Synthesis &amp; Multi-Format Thesis Export</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Automated categorical synthesis paired with SheetJS Excel, LaTeX tabularx, and BibTeX generators</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38BDF8"/>
                </a:solidFill>
              </a:rPr>
              <a:t>Slide 11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38BDF8"/>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Automated Cluster Insights Synthesizer: </a:t>
            </a:r>
            <a:pPr indent="0" marL="0">
              <a:lnSpc>
                <a:spcPct val="115000"/>
              </a:lnSpc>
              <a:buNone/>
            </a:pPr>
            <a:r>
              <a:rPr lang="en-US" sz="950" dirty="0">
                <a:solidFill>
                  <a:srgbClr val="CBD5E1"/>
                </a:solidFill>
              </a:rPr>
              <a:t>The /clusters/:id/insights engine aggregates unique values across all columns, displaying distinct metric counts with citation badges (#1, #2, #3) ready to copy for thesis writeups.</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SheetJS Multi-Level Excel Generation: </a:t>
            </a:r>
            <a:pPr indent="0" marL="0">
              <a:lnSpc>
                <a:spcPct val="115000"/>
              </a:lnSpc>
              <a:buNone/>
            </a:pPr>
            <a:r>
              <a:rPr lang="en-US" sz="950" dirty="0">
                <a:solidFill>
                  <a:srgbClr val="CBD5E1"/>
                </a:solidFill>
              </a:rPr>
              <a:t>Builds publication-grade .xlsx spreadsheets featuring merged two-tier header cells for split columns (!merges), auto-fitted column widths, freeze panes, and custom styled headers.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LaTeX Tabularx &amp; Booktabs Generator: </a:t>
            </a:r>
            <a:pPr indent="0" marL="0">
              <a:lnSpc>
                <a:spcPct val="115000"/>
              </a:lnSpc>
              <a:buNone/>
            </a:pPr>
            <a:r>
              <a:rPr lang="en-US" sz="950" dirty="0">
                <a:solidFill>
                  <a:srgbClr val="CBD5E1"/>
                </a:solidFill>
              </a:rPr>
              <a:t>Generates compile-ready LaTeX survey code using booktabs, toprule, midrule, bottomrule, multicolumn, and sanitized LaTeX special characters.</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BibTeX &amp; RIS Reference Files: </a:t>
            </a:r>
            <a:pPr indent="0" marL="0">
              <a:lnSpc>
                <a:spcPct val="115000"/>
              </a:lnSpc>
              <a:buNone/>
            </a:pPr>
            <a:r>
              <a:rPr lang="en-US" sz="950" dirty="0">
                <a:solidFill>
                  <a:srgbClr val="CBD5E1"/>
                </a:solidFill>
              </a:rPr>
              <a:t>One-click export of structured .bib and .ris files containing DOI, authors, journal, and abstract fields for seamless drag-and-drop into Zotero, Mendeley, and Overleaf.</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Export API: </a:t>
            </a:r>
            <a:pPr indent="0" marL="0">
              <a:buNone/>
            </a:pPr>
            <a:r>
              <a:rPr lang="en-US" sz="850" dirty="0">
                <a:solidFill>
                  <a:srgbClr val="CBD5E1"/>
                </a:solidFill>
              </a:rPr>
              <a:t>GET /api/export/excel, /latex, /bibtex, /ris, /csv, /json
</a:t>
            </a:r>
            <a:pPr indent="0" marL="0">
              <a:buNone/>
            </a:pPr>
            <a:r>
              <a:rPr lang="en-US" sz="850" b="1" dirty="0">
                <a:solidFill>
                  <a:srgbClr val="38BDF8"/>
                </a:solidFill>
              </a:rPr>
              <a:t>• Excel Engine: </a:t>
            </a:r>
            <a:pPr indent="0" marL="0">
              <a:buNone/>
            </a:pPr>
            <a:r>
              <a:rPr lang="en-US" sz="850" dirty="0">
                <a:solidFill>
                  <a:srgbClr val="CBD5E1"/>
                </a:solidFill>
              </a:rPr>
              <a:t>SheetJS (xlsx) with dynamic merge ranges and column width heuristics
</a:t>
            </a:r>
            <a:pPr indent="0" marL="0">
              <a:buNone/>
            </a:pPr>
            <a:r>
              <a:rPr lang="en-US" sz="850" b="1" dirty="0">
                <a:solidFill>
                  <a:srgbClr val="38BDF8"/>
                </a:solidFill>
              </a:rPr>
              <a:t>• LaTeX Engine: </a:t>
            </a:r>
            <a:pPr indent="0" marL="0">
              <a:buNone/>
            </a:pPr>
            <a:r>
              <a:rPr lang="en-US" sz="850" dirty="0">
                <a:solidFill>
                  <a:srgbClr val="CBD5E1"/>
                </a:solidFill>
              </a:rPr>
              <a:t>Custom LaTeX generator formatting tabularx with auto-wrapping columns
</a:t>
            </a:r>
            <a:pPr indent="0" marL="0">
              <a:buNone/>
            </a:pPr>
            <a:r>
              <a:rPr lang="en-US" sz="850" b="1" dirty="0">
                <a:solidFill>
                  <a:srgbClr val="38BDF8"/>
                </a:solidFill>
              </a:rPr>
              <a:t>• Scope Control: </a:t>
            </a:r>
            <a:pPr indent="0" marL="0">
              <a:buNone/>
            </a:pPr>
            <a:r>
              <a:rPr lang="en-US" sz="850" dirty="0">
                <a:solidFill>
                  <a:srgbClr val="CBD5E1"/>
                </a:solidFill>
              </a:rPr>
              <a:t>Filter export by specific taxonomy cluster or full systematic review corpus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11_export_modal.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38BDF8"/>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Export Modal Supporting Structured Multi-Level Excel, LaTeX Booktabs &amp; BibTeX</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Export Scope selector (Full Project vs. Specific Cluster) &amp; File Format selector</a:t>
            </a:r>
            <a:endParaRPr lang="en-US" sz="800" dirty="0"/>
          </a:p>
          <a:p>
            <a:pPr indent="0" marL="0">
              <a:lnSpc>
                <a:spcPct val="115000"/>
              </a:lnSpc>
              <a:buNone/>
            </a:pPr>
            <a:r>
              <a:rPr lang="en-US" sz="800" dirty="0">
                <a:solidFill>
                  <a:srgbClr val="CBD5E1"/>
                </a:solidFill>
              </a:rPr>
              <a:t>▸ Interactive column checkboxes (18 columns selected with Select All / Clear All)</a:t>
            </a:r>
            <a:endParaRPr lang="en-US" sz="800" dirty="0"/>
          </a:p>
          <a:p>
            <a:pPr indent="0" marL="0">
              <a:lnSpc>
                <a:spcPct val="115000"/>
              </a:lnSpc>
              <a:buNone/>
            </a:pPr>
            <a:r>
              <a:rPr lang="en-US" sz="800" dirty="0">
                <a:solidFill>
                  <a:srgbClr val="CBD5E1"/>
                </a:solidFill>
              </a:rPr>
              <a:t>▸ One-click direct browser download producing publication-ready Excel &amp; LaTeX tables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65760"/>
            <a:ext cx="4572000" cy="292608"/>
          </a:xfrm>
          <a:prstGeom prst="roundRect">
            <a:avLst>
              <a:gd name="adj" fmla="val 25000"/>
            </a:avLst>
          </a:prstGeom>
          <a:solidFill>
            <a:srgbClr val="1E293B"/>
          </a:solidFill>
          <a:ln w="15240">
            <a:solidFill>
              <a:srgbClr val="EF4444"/>
            </a:solidFill>
            <a:prstDash val="solid"/>
          </a:ln>
        </p:spPr>
      </p:sp>
      <p:sp>
        <p:nvSpPr>
          <p:cNvPr id="3" name="Text 1"/>
          <p:cNvSpPr/>
          <p:nvPr/>
        </p:nvSpPr>
        <p:spPr>
          <a:xfrm>
            <a:off x="777240" y="365760"/>
            <a:ext cx="4480560" cy="292608"/>
          </a:xfrm>
          <a:prstGeom prst="rect">
            <a:avLst/>
          </a:prstGeom>
          <a:noFill/>
          <a:ln/>
        </p:spPr>
        <p:txBody>
          <a:bodyPr wrap="square" rtlCol="0" anchor="ctr"/>
          <a:lstStyle/>
          <a:p>
            <a:pPr algn="l" indent="0" marL="0">
              <a:buNone/>
            </a:pPr>
            <a:r>
              <a:rPr lang="en-US" sz="900" b="1" dirty="0">
                <a:solidFill>
                  <a:srgbClr val="EF4444"/>
                </a:solidFill>
              </a:rPr>
              <a:t>SYSTEM ADMINISTRATION &amp; QA VERIFICATION  |  SLIDE 12 OF 12</a:t>
            </a:r>
            <a:endParaRPr lang="en-US" sz="900" dirty="0"/>
          </a:p>
        </p:txBody>
      </p:sp>
      <p:sp>
        <p:nvSpPr>
          <p:cNvPr id="4" name="Text 2"/>
          <p:cNvSpPr/>
          <p:nvPr/>
        </p:nvSpPr>
        <p:spPr>
          <a:xfrm>
            <a:off x="731520" y="713232"/>
            <a:ext cx="10725912" cy="411480"/>
          </a:xfrm>
          <a:prstGeom prst="rect">
            <a:avLst/>
          </a:prstGeom>
          <a:noFill/>
          <a:ln/>
        </p:spPr>
        <p:txBody>
          <a:bodyPr wrap="square" rtlCol="0" anchor="t"/>
          <a:lstStyle/>
          <a:p>
            <a:pPr indent="0" marL="0">
              <a:buNone/>
            </a:pPr>
            <a:r>
              <a:rPr lang="en-US" sz="2000" b="1" dirty="0">
                <a:solidFill>
                  <a:srgbClr val="FFFFFF"/>
                </a:solidFill>
              </a:rPr>
              <a:t>Admin Control Center, Live Telemetry &amp; Test Automation</a:t>
            </a:r>
            <a:endParaRPr lang="en-US" sz="2000" dirty="0"/>
          </a:p>
        </p:txBody>
      </p:sp>
      <p:sp>
        <p:nvSpPr>
          <p:cNvPr id="5" name="Text 3"/>
          <p:cNvSpPr/>
          <p:nvPr/>
        </p:nvSpPr>
        <p:spPr>
          <a:xfrm>
            <a:off x="731520" y="1133856"/>
            <a:ext cx="10725912" cy="292608"/>
          </a:xfrm>
          <a:prstGeom prst="rect">
            <a:avLst/>
          </a:prstGeom>
          <a:noFill/>
          <a:ln/>
        </p:spPr>
        <p:txBody>
          <a:bodyPr wrap="square" rtlCol="0" anchor="t"/>
          <a:lstStyle/>
          <a:p>
            <a:pPr indent="0" marL="0">
              <a:buNone/>
            </a:pPr>
            <a:r>
              <a:rPr lang="en-US" sz="1100" i="1" dirty="0">
                <a:solidFill>
                  <a:srgbClr val="94A3B8"/>
                </a:solidFill>
              </a:rPr>
              <a:t>Platform telemetry KPIs, global maintenance guardrails, and 100% automated test coverage</a:t>
            </a:r>
            <a:endParaRPr lang="en-US" sz="1100" dirty="0"/>
          </a:p>
        </p:txBody>
      </p:sp>
      <p:sp>
        <p:nvSpPr>
          <p:cNvPr id="6" name="Shape 4"/>
          <p:cNvSpPr/>
          <p:nvPr/>
        </p:nvSpPr>
        <p:spPr>
          <a:xfrm>
            <a:off x="731520" y="6355080"/>
            <a:ext cx="10725912" cy="0"/>
          </a:xfrm>
          <a:prstGeom prst="line">
            <a:avLst/>
          </a:prstGeom>
          <a:noFill/>
          <a:ln w="10160">
            <a:solidFill>
              <a:srgbClr val="334155"/>
            </a:solidFill>
            <a:prstDash val="solid"/>
          </a:ln>
        </p:spPr>
      </p:sp>
      <p:sp>
        <p:nvSpPr>
          <p:cNvPr id="7" name="Text 5"/>
          <p:cNvSpPr/>
          <p:nvPr/>
        </p:nvSpPr>
        <p:spPr>
          <a:xfrm>
            <a:off x="731520" y="6419088"/>
            <a:ext cx="8686800" cy="274320"/>
          </a:xfrm>
          <a:prstGeom prst="rect">
            <a:avLst/>
          </a:prstGeom>
          <a:noFill/>
          <a:ln/>
        </p:spPr>
        <p:txBody>
          <a:bodyPr wrap="square" rtlCol="0" anchor="ctr"/>
          <a:lstStyle/>
          <a:p>
            <a:pPr indent="0" marL="0">
              <a:buNone/>
            </a:pPr>
            <a:r>
              <a:rPr lang="en-US" sz="900" dirty="0">
                <a:solidFill>
                  <a:srgbClr val="94A3B8"/>
                </a:solidFill>
              </a:rPr>
              <a:t>LitSphere: Deep Analytical Literature Review &amp; Benchmarking System  |  Final Year Project Presentation</a:t>
            </a:r>
            <a:endParaRPr lang="en-US" sz="900" dirty="0"/>
          </a:p>
        </p:txBody>
      </p:sp>
      <p:sp>
        <p:nvSpPr>
          <p:cNvPr id="8" name="Text 6"/>
          <p:cNvSpPr/>
          <p:nvPr/>
        </p:nvSpPr>
        <p:spPr>
          <a:xfrm>
            <a:off x="9601200" y="6419088"/>
            <a:ext cx="1856232" cy="274320"/>
          </a:xfrm>
          <a:prstGeom prst="rect">
            <a:avLst/>
          </a:prstGeom>
          <a:noFill/>
          <a:ln/>
        </p:spPr>
        <p:txBody>
          <a:bodyPr wrap="square" rtlCol="0" anchor="ctr"/>
          <a:lstStyle/>
          <a:p>
            <a:pPr algn="r" indent="0" marL="0">
              <a:buNone/>
            </a:pPr>
            <a:r>
              <a:rPr lang="en-US" sz="900" b="1" dirty="0">
                <a:solidFill>
                  <a:srgbClr val="EF4444"/>
                </a:solidFill>
              </a:rPr>
              <a:t>Slide 12 of 12</a:t>
            </a:r>
            <a:endParaRPr lang="en-US" sz="900" dirty="0"/>
          </a:p>
        </p:txBody>
      </p:sp>
      <p:sp>
        <p:nvSpPr>
          <p:cNvPr id="9" name="Shape 7"/>
          <p:cNvSpPr/>
          <p:nvPr/>
        </p:nvSpPr>
        <p:spPr>
          <a:xfrm>
            <a:off x="731520" y="1481328"/>
            <a:ext cx="5166360" cy="4736592"/>
          </a:xfrm>
          <a:prstGeom prst="roundRect">
            <a:avLst>
              <a:gd name="adj" fmla="val 1544"/>
            </a:avLst>
          </a:prstGeom>
          <a:solidFill>
            <a:srgbClr val="1E293B"/>
          </a:solidFill>
          <a:ln w="12700">
            <a:solidFill>
              <a:srgbClr val="334155"/>
            </a:solidFill>
            <a:prstDash val="solid"/>
          </a:ln>
        </p:spPr>
      </p:sp>
      <p:sp>
        <p:nvSpPr>
          <p:cNvPr id="10" name="Text 8"/>
          <p:cNvSpPr/>
          <p:nvPr/>
        </p:nvSpPr>
        <p:spPr>
          <a:xfrm>
            <a:off x="914400" y="1609344"/>
            <a:ext cx="4800600" cy="228600"/>
          </a:xfrm>
          <a:prstGeom prst="rect">
            <a:avLst/>
          </a:prstGeom>
          <a:noFill/>
          <a:ln/>
        </p:spPr>
        <p:txBody>
          <a:bodyPr wrap="square" rtlCol="0" anchor="ctr"/>
          <a:lstStyle/>
          <a:p>
            <a:pPr indent="0" marL="0">
              <a:buNone/>
            </a:pPr>
            <a:r>
              <a:rPr lang="en-US" sz="1000" b="1" dirty="0">
                <a:solidFill>
                  <a:srgbClr val="EF4444"/>
                </a:solidFill>
              </a:rPr>
              <a:t>CORE CAPABILITIES &amp; ARCHITECTURAL LOGIC</a:t>
            </a:r>
            <a:endParaRPr lang="en-US" sz="1000" dirty="0"/>
          </a:p>
        </p:txBody>
      </p:sp>
      <p:sp>
        <p:nvSpPr>
          <p:cNvPr id="11" name="Text 9"/>
          <p:cNvSpPr/>
          <p:nvPr/>
        </p:nvSpPr>
        <p:spPr>
          <a:xfrm>
            <a:off x="914400" y="1901952"/>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[1] Real-Time Telemetry &amp; Health Monitoring: </a:t>
            </a:r>
            <a:pPr indent="0" marL="0">
              <a:lnSpc>
                <a:spcPct val="115000"/>
              </a:lnSpc>
              <a:buNone/>
            </a:pPr>
            <a:r>
              <a:rPr lang="en-US" sz="950" dirty="0">
                <a:solidFill>
                  <a:srgbClr val="CBD5E1"/>
                </a:solidFill>
              </a:rPr>
              <a:t>Admin dashboard streams live hardware &amp; software KPIs: Node.js process heap memory, RSS footprint, SQLite database file size (124 MB), WAL size, and total security audit events (845+).</a:t>
            </a:r>
            <a:endParaRPr lang="en-US" sz="1000" dirty="0"/>
          </a:p>
        </p:txBody>
      </p:sp>
      <p:sp>
        <p:nvSpPr>
          <p:cNvPr id="12" name="Text 10"/>
          <p:cNvSpPr/>
          <p:nvPr/>
        </p:nvSpPr>
        <p:spPr>
          <a:xfrm>
            <a:off x="914400" y="2596896"/>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[2] Global Platform Maintenance Guardrails: </a:t>
            </a:r>
            <a:pPr indent="0" marL="0">
              <a:lnSpc>
                <a:spcPct val="115000"/>
              </a:lnSpc>
              <a:buNone/>
            </a:pPr>
            <a:r>
              <a:rPr lang="en-US" sz="950" dirty="0">
                <a:solidFill>
                  <a:srgbClr val="CBD5E1"/>
                </a:solidFill>
              </a:rPr>
              <a:t>System maintenance mode toggle intercepts non-admin API requests with HTTP 503 and broadcasts custom banner announcements across all active researcher workspaces.</a:t>
            </a:r>
            <a:endParaRPr lang="en-US" sz="1000" dirty="0"/>
          </a:p>
        </p:txBody>
      </p:sp>
      <p:sp>
        <p:nvSpPr>
          <p:cNvPr id="13" name="Text 11"/>
          <p:cNvSpPr/>
          <p:nvPr/>
        </p:nvSpPr>
        <p:spPr>
          <a:xfrm>
            <a:off x="914400" y="3291840"/>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[3] Researcher Seat &amp; Quota Governance: </a:t>
            </a:r>
            <a:pPr indent="0" marL="0">
              <a:lnSpc>
                <a:spcPct val="115000"/>
              </a:lnSpc>
              <a:buNone/>
            </a:pPr>
            <a:r>
              <a:rPr lang="en-US" sz="950" dirty="0">
                <a:solidFill>
                  <a:srgbClr val="CBD5E1"/>
                </a:solidFill>
              </a:rPr>
              <a:t>Administrators can modify individual researcher token quotas, allocate storage limits (MB), suspend or activate researcher seats, and reset security credentials.</a:t>
            </a:r>
            <a:endParaRPr lang="en-US" sz="1000" dirty="0"/>
          </a:p>
        </p:txBody>
      </p:sp>
      <p:sp>
        <p:nvSpPr>
          <p:cNvPr id="14" name="Text 12"/>
          <p:cNvSpPr/>
          <p:nvPr/>
        </p:nvSpPr>
        <p:spPr>
          <a:xfrm>
            <a:off x="914400" y="3986784"/>
            <a:ext cx="4800600" cy="658368"/>
          </a:xfrm>
          <a:prstGeom prst="rect">
            <a:avLst/>
          </a:prstGeom>
          <a:noFill/>
          <a:ln/>
        </p:spPr>
        <p:txBody>
          <a:bodyPr wrap="square" rtlCol="0" anchor="t"/>
          <a:lstStyle/>
          <a:p>
            <a:pPr indent="0" marL="0">
              <a:lnSpc>
                <a:spcPct val="115000"/>
              </a:lnSpc>
              <a:buNone/>
            </a:pPr>
            <a:r>
              <a:rPr lang="en-US" sz="1000" b="1" dirty="0">
                <a:solidFill>
                  <a:srgbClr val="FFFFFF"/>
                </a:solidFill>
              </a:rPr>
              <a:t>[4] Comprehensive Automated QA Suite: </a:t>
            </a:r>
            <a:pPr indent="0" marL="0">
              <a:lnSpc>
                <a:spcPct val="115000"/>
              </a:lnSpc>
              <a:buNone/>
            </a:pPr>
            <a:r>
              <a:rPr lang="en-US" sz="950" dirty="0">
                <a:solidFill>
                  <a:srgbClr val="CBD5E1"/>
                </a:solidFill>
              </a:rPr>
              <a:t>6 automated test suites executing 100+ assertions verify RBAC permissions, user credentials, audit logging, column splitting, and export formatting with 100% pass rates.</a:t>
            </a:r>
            <a:endParaRPr lang="en-US" sz="1000" dirty="0"/>
          </a:p>
        </p:txBody>
      </p:sp>
      <p:sp>
        <p:nvSpPr>
          <p:cNvPr id="15" name="Shape 13"/>
          <p:cNvSpPr/>
          <p:nvPr/>
        </p:nvSpPr>
        <p:spPr>
          <a:xfrm>
            <a:off x="914400" y="4800600"/>
            <a:ext cx="4800600" cy="1261872"/>
          </a:xfrm>
          <a:prstGeom prst="roundRect">
            <a:avLst>
              <a:gd name="adj" fmla="val 4348"/>
            </a:avLst>
          </a:prstGeom>
          <a:solidFill>
            <a:srgbClr val="0F172A"/>
          </a:solidFill>
          <a:ln w="10160">
            <a:solidFill>
              <a:srgbClr val="475569"/>
            </a:solidFill>
            <a:prstDash val="solid"/>
          </a:ln>
        </p:spPr>
      </p:sp>
      <p:sp>
        <p:nvSpPr>
          <p:cNvPr id="16" name="Text 14"/>
          <p:cNvSpPr/>
          <p:nvPr/>
        </p:nvSpPr>
        <p:spPr>
          <a:xfrm>
            <a:off x="1051560" y="4882896"/>
            <a:ext cx="4526280" cy="201168"/>
          </a:xfrm>
          <a:prstGeom prst="rect">
            <a:avLst/>
          </a:prstGeom>
          <a:noFill/>
          <a:ln/>
        </p:spPr>
        <p:txBody>
          <a:bodyPr wrap="square" rtlCol="0" anchor="ctr"/>
          <a:lstStyle/>
          <a:p>
            <a:pPr indent="0" marL="0">
              <a:buNone/>
            </a:pPr>
            <a:r>
              <a:rPr lang="en-US" sz="850" b="1" dirty="0">
                <a:solidFill>
                  <a:srgbClr val="F59E0B"/>
                </a:solidFill>
              </a:rPr>
              <a:t>ENGINEERING SPECIFICATIONS &amp; IMPLEMENTATION</a:t>
            </a:r>
            <a:endParaRPr lang="en-US" sz="850" dirty="0"/>
          </a:p>
        </p:txBody>
      </p:sp>
      <p:sp>
        <p:nvSpPr>
          <p:cNvPr id="17" name="Text 15"/>
          <p:cNvSpPr/>
          <p:nvPr/>
        </p:nvSpPr>
        <p:spPr>
          <a:xfrm>
            <a:off x="1051560" y="5084064"/>
            <a:ext cx="4526280" cy="914400"/>
          </a:xfrm>
          <a:prstGeom prst="rect">
            <a:avLst/>
          </a:prstGeom>
          <a:noFill/>
          <a:ln/>
        </p:spPr>
        <p:txBody>
          <a:bodyPr wrap="square" rtlCol="0" anchor="t"/>
          <a:lstStyle/>
          <a:p>
            <a:pPr indent="0" marL="0">
              <a:buNone/>
            </a:pPr>
            <a:r>
              <a:rPr lang="en-US" sz="850" b="1" dirty="0">
                <a:solidFill>
                  <a:srgbClr val="38BDF8"/>
                </a:solidFill>
              </a:rPr>
              <a:t>• Admin Endpoints: </a:t>
            </a:r>
            <a:pPr indent="0" marL="0">
              <a:buNone/>
            </a:pPr>
            <a:r>
              <a:rPr lang="en-US" sz="850" dirty="0">
                <a:solidFill>
                  <a:srgbClr val="CBD5E1"/>
                </a:solidFill>
              </a:rPr>
              <a:t>GET /api/admin/stats, GET /api/admin/audit-logs, POST /api/admin/maintenance
</a:t>
            </a:r>
            <a:pPr indent="0" marL="0">
              <a:buNone/>
            </a:pPr>
            <a:r>
              <a:rPr lang="en-US" sz="850" b="1" dirty="0">
                <a:solidFill>
                  <a:srgbClr val="38BDF8"/>
                </a:solidFill>
              </a:rPr>
              <a:t>• Test Automation: </a:t>
            </a:r>
            <a:pPr indent="0" marL="0">
              <a:buNone/>
            </a:pPr>
            <a:r>
              <a:rPr lang="en-US" sz="850" dirty="0">
                <a:solidFill>
                  <a:srgbClr val="CBD5E1"/>
                </a:solidFill>
              </a:rPr>
              <a:t>Backend/tests/run_all.js executing 6 test suites with zero regressions
</a:t>
            </a:r>
            <a:pPr indent="0" marL="0">
              <a:buNone/>
            </a:pPr>
            <a:r>
              <a:rPr lang="en-US" sz="850" b="1" dirty="0">
                <a:solidFill>
                  <a:srgbClr val="38BDF8"/>
                </a:solidFill>
              </a:rPr>
              <a:t>• Audit Schema: </a:t>
            </a:r>
            <a:pPr indent="0" marL="0">
              <a:buNone/>
            </a:pPr>
            <a:r>
              <a:rPr lang="en-US" sz="850" dirty="0">
                <a:solidFill>
                  <a:srgbClr val="CBD5E1"/>
                </a:solidFill>
              </a:rPr>
              <a:t>audit_logs table tracking user_id, action, ip_address, details, status
</a:t>
            </a:r>
            <a:pPr indent="0" marL="0">
              <a:buNone/>
            </a:pPr>
            <a:r>
              <a:rPr lang="en-US" sz="850" b="1" dirty="0">
                <a:solidFill>
                  <a:srgbClr val="38BDF8"/>
                </a:solidFill>
              </a:rPr>
              <a:t>• Storage Quotas: </a:t>
            </a:r>
            <a:pPr indent="0" marL="0">
              <a:buNone/>
            </a:pPr>
            <a:r>
              <a:rPr lang="en-US" sz="850" dirty="0">
                <a:solidFill>
                  <a:srgbClr val="CBD5E1"/>
                </a:solidFill>
              </a:rPr>
              <a:t>recalculateUserStorage utility calculating exact byte usage from SQLite BLOBs
</a:t>
            </a:r>
            <a:endParaRPr lang="en-US" sz="850" dirty="0"/>
          </a:p>
        </p:txBody>
      </p:sp>
      <p:sp>
        <p:nvSpPr>
          <p:cNvPr id="18" name="Shape 16"/>
          <p:cNvSpPr/>
          <p:nvPr/>
        </p:nvSpPr>
        <p:spPr>
          <a:xfrm>
            <a:off x="6080760" y="1481328"/>
            <a:ext cx="5376672" cy="4736592"/>
          </a:xfrm>
          <a:prstGeom prst="roundRect">
            <a:avLst>
              <a:gd name="adj" fmla="val 1544"/>
            </a:avLst>
          </a:prstGeom>
          <a:solidFill>
            <a:srgbClr val="1E293B"/>
          </a:solidFill>
          <a:ln w="12700">
            <a:solidFill>
              <a:srgbClr val="334155"/>
            </a:solidFill>
            <a:prstDash val="solid"/>
          </a:ln>
        </p:spPr>
      </p:sp>
      <p:sp>
        <p:nvSpPr>
          <p:cNvPr id="19" name="Shape 17"/>
          <p:cNvSpPr/>
          <p:nvPr/>
        </p:nvSpPr>
        <p:spPr>
          <a:xfrm>
            <a:off x="6236208" y="1627632"/>
            <a:ext cx="5065776" cy="3035808"/>
          </a:xfrm>
          <a:prstGeom prst="rect">
            <a:avLst/>
          </a:prstGeom>
          <a:solidFill>
            <a:srgbClr val="000000"/>
          </a:solidFill>
          <a:ln w="15240">
            <a:solidFill>
              <a:srgbClr val="475569"/>
            </a:solidFill>
            <a:prstDash val="solid"/>
          </a:ln>
        </p:spPr>
      </p:sp>
      <p:pic>
        <p:nvPicPr>
          <p:cNvPr id="20" name="Image 0" descr="/Users/mostafakamal/Documents/Final Year Project/ Literature Review/presentation_screenshots/12_admin_telemetry.png">    </p:cNvPr>
          <p:cNvPicPr>
            <a:picLocks noChangeAspect="1"/>
          </p:cNvPicPr>
          <p:nvPr/>
        </p:nvPicPr>
        <p:blipFill>
          <a:blip r:embed="rId1"/>
          <a:stretch>
            <a:fillRect/>
          </a:stretch>
        </p:blipFill>
        <p:spPr>
          <a:xfrm>
            <a:off x="6236208" y="1627632"/>
            <a:ext cx="5065776" cy="3035808"/>
          </a:xfrm>
          <a:prstGeom prst="rect">
            <a:avLst/>
          </a:prstGeom>
        </p:spPr>
      </p:pic>
      <p:sp>
        <p:nvSpPr>
          <p:cNvPr id="21" name="Shape 18"/>
          <p:cNvSpPr/>
          <p:nvPr/>
        </p:nvSpPr>
        <p:spPr>
          <a:xfrm>
            <a:off x="6236208" y="4773168"/>
            <a:ext cx="5065776" cy="310896"/>
          </a:xfrm>
          <a:prstGeom prst="roundRect">
            <a:avLst>
              <a:gd name="adj" fmla="val 14706"/>
            </a:avLst>
          </a:prstGeom>
          <a:solidFill>
            <a:srgbClr val="0F172A"/>
          </a:solidFill>
          <a:ln w="12700">
            <a:solidFill>
              <a:srgbClr val="EF4444"/>
            </a:solidFill>
            <a:prstDash val="solid"/>
          </a:ln>
        </p:spPr>
      </p:sp>
      <p:sp>
        <p:nvSpPr>
          <p:cNvPr id="22" name="Text 19"/>
          <p:cNvSpPr/>
          <p:nvPr/>
        </p:nvSpPr>
        <p:spPr>
          <a:xfrm>
            <a:off x="6327648" y="4773168"/>
            <a:ext cx="4882896" cy="310896"/>
          </a:xfrm>
          <a:prstGeom prst="rect">
            <a:avLst/>
          </a:prstGeom>
          <a:noFill/>
          <a:ln/>
        </p:spPr>
        <p:txBody>
          <a:bodyPr wrap="square" rtlCol="0" anchor="ctr"/>
          <a:lstStyle/>
          <a:p>
            <a:pPr indent="0" marL="0">
              <a:buNone/>
            </a:pPr>
            <a:r>
              <a:rPr lang="en-US" sz="850" b="1" dirty="0">
                <a:solidFill>
                  <a:srgbClr val="FFFFFF"/>
                </a:solidFill>
              </a:rPr>
              <a:t>[LIVE UI]  System Operations Portal with Memory Telemetry, Database KPIs &amp; Audit Logs</a:t>
            </a:r>
            <a:endParaRPr lang="en-US" sz="850" dirty="0"/>
          </a:p>
        </p:txBody>
      </p:sp>
      <p:sp>
        <p:nvSpPr>
          <p:cNvPr id="23" name="Shape 20"/>
          <p:cNvSpPr/>
          <p:nvPr/>
        </p:nvSpPr>
        <p:spPr>
          <a:xfrm>
            <a:off x="6236208" y="5157216"/>
            <a:ext cx="5065776" cy="914400"/>
          </a:xfrm>
          <a:prstGeom prst="roundRect">
            <a:avLst>
              <a:gd name="adj" fmla="val 6000"/>
            </a:avLst>
          </a:prstGeom>
          <a:solidFill>
            <a:srgbClr val="0F172A"/>
          </a:solidFill>
          <a:ln w="10160">
            <a:solidFill>
              <a:srgbClr val="475569"/>
            </a:solidFill>
            <a:prstDash val="solid"/>
          </a:ln>
        </p:spPr>
      </p:sp>
      <p:sp>
        <p:nvSpPr>
          <p:cNvPr id="24" name="Text 21"/>
          <p:cNvSpPr/>
          <p:nvPr/>
        </p:nvSpPr>
        <p:spPr>
          <a:xfrm>
            <a:off x="6355080" y="5230368"/>
            <a:ext cx="4828032" cy="182880"/>
          </a:xfrm>
          <a:prstGeom prst="rect">
            <a:avLst/>
          </a:prstGeom>
          <a:noFill/>
          <a:ln/>
        </p:spPr>
        <p:txBody>
          <a:bodyPr wrap="square" rtlCol="0" anchor="ctr"/>
          <a:lstStyle/>
          <a:p>
            <a:pPr indent="0" marL="0">
              <a:buNone/>
            </a:pPr>
            <a:r>
              <a:rPr lang="en-US" sz="800" b="1" dirty="0">
                <a:solidFill>
                  <a:srgbClr val="F59E0B"/>
                </a:solidFill>
              </a:rPr>
              <a:t>KEY VISUAL ELEMENTS INSPECTED IN INTERFACE:</a:t>
            </a:r>
            <a:endParaRPr lang="en-US" sz="800" dirty="0"/>
          </a:p>
        </p:txBody>
      </p:sp>
      <p:sp>
        <p:nvSpPr>
          <p:cNvPr id="25" name="Text 22"/>
          <p:cNvSpPr/>
          <p:nvPr/>
        </p:nvSpPr>
        <p:spPr>
          <a:xfrm>
            <a:off x="6355080" y="5431536"/>
            <a:ext cx="4828032" cy="594360"/>
          </a:xfrm>
          <a:prstGeom prst="rect">
            <a:avLst/>
          </a:prstGeom>
          <a:noFill/>
          <a:ln/>
        </p:spPr>
        <p:txBody>
          <a:bodyPr wrap="square" rtlCol="0" anchor="t"/>
          <a:lstStyle/>
          <a:p>
            <a:pPr indent="0" marL="0">
              <a:lnSpc>
                <a:spcPct val="115000"/>
              </a:lnSpc>
              <a:buNone/>
            </a:pPr>
            <a:r>
              <a:rPr lang="en-US" sz="800" dirty="0">
                <a:solidFill>
                  <a:srgbClr val="CBD5E1"/>
                </a:solidFill>
              </a:rPr>
              <a:t>▸ Live hardware metrics: 44.5 MB heap memory, 124.25 MB SQLite WAL database, 845 audit events</a:t>
            </a:r>
            <a:endParaRPr lang="en-US" sz="800" dirty="0"/>
          </a:p>
          <a:p>
            <a:pPr indent="0" marL="0">
              <a:lnSpc>
                <a:spcPct val="115000"/>
              </a:lnSpc>
              <a:buNone/>
            </a:pPr>
            <a:r>
              <a:rPr lang="en-US" sz="800" dirty="0">
                <a:solidFill>
                  <a:srgbClr val="CBD5E1"/>
                </a:solidFill>
              </a:rPr>
              <a:t>▸ Server infrastructure details: Node.js v25.8.1, Darwin arm64, 8 logical cores, healthy status</a:t>
            </a:r>
            <a:endParaRPr lang="en-US" sz="800" dirty="0"/>
          </a:p>
          <a:p>
            <a:pPr indent="0" marL="0">
              <a:lnSpc>
                <a:spcPct val="115000"/>
              </a:lnSpc>
              <a:buNone/>
            </a:pPr>
            <a:r>
              <a:rPr lang="en-US" sz="800" dirty="0">
                <a:solidFill>
                  <a:srgbClr val="CBD5E1"/>
                </a:solidFill>
              </a:rPr>
              <a:t>▸ Platform maintenance mode toggle &amp; broadcast maintenance banner input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Jashore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LitSphere: Systematic Literature Review &amp; Benchmarking Platform</dc:title>
  <dc:subject>Comprehensive Final Year Project Presentation &amp; System Architecture Walkthrough</dc:subject>
  <dc:creator>Mostafa Kamal</dc:creator>
  <cp:lastModifiedBy>Mostafa Kamal</cp:lastModifiedBy>
  <cp:revision>1</cp:revision>
  <dcterms:created xsi:type="dcterms:W3CDTF">2026-09-04T04:37:10Z</dcterms:created>
  <dcterms:modified xsi:type="dcterms:W3CDTF">2026-09-04T04:37:10Z</dcterms:modified>
</cp:coreProperties>
</file>