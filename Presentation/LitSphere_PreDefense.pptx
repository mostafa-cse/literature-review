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jus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351" y="365760"/>
            <a:ext cx="1078992" cy="12252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5544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Jashore University of Science and Technology</a:t>
            </a:r>
          </a:p>
          <a:p>
            <a:pPr algn="ct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Computer Science and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42032"/>
            <a:ext cx="10728655" cy="22860"/>
          </a:xfrm>
          <a:prstGeom prst="rect">
            <a:avLst/>
          </a:prstGeom>
          <a:solidFill>
            <a:srgbClr val="F59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27640"/>
                </a:solidFill>
                <a:latin typeface="Times New Roman"/>
              </a:defRPr>
            </a:pPr>
            <a:r>
              <a:rPr>
                <a:latin typeface="Times New Roman"/>
              </a:rPr>
              <a:t>LitSphere</a:t>
            </a:r>
          </a:p>
          <a:p>
            <a:pPr algn="ctr">
              <a:defRPr sz="1350" b="1">
                <a:solidFill>
                  <a:srgbClr val="127640"/>
                </a:solidFill>
                <a:latin typeface="Times New Roman"/>
              </a:defRPr>
            </a:pPr>
            <a:r>
              <a:rPr>
                <a:latin typeface="Times New Roman"/>
              </a:rPr>
              <a:t>A Collaborative Systematic Literature Review, Benchmark, and Research Synthesis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86200"/>
            <a:ext cx="10728655" cy="22860"/>
          </a:xfrm>
          <a:prstGeom prst="rect">
            <a:avLst/>
          </a:prstGeom>
          <a:solidFill>
            <a:srgbClr val="F59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6076188" y="4160520"/>
            <a:ext cx="41148" cy="2057400"/>
          </a:xfrm>
          <a:prstGeom prst="rect">
            <a:avLst/>
          </a:prstGeom>
          <a:solidFill>
            <a:srgbClr val="5E1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Presenter:</a:t>
            </a:r>
          </a:p>
          <a:p>
            <a:pPr algn="r">
              <a:defRPr sz="1300" b="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Md Mostafa Kamal</a:t>
            </a:r>
          </a:p>
          <a:p>
            <a:pPr algn="r">
              <a:defRPr sz="1300" b="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Student Id: 200108</a:t>
            </a:r>
          </a:p>
          <a:p>
            <a:pPr algn="r">
              <a:defRPr sz="1200" b="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Dept. of Computer Science and Engineering(CSE)</a:t>
            </a:r>
          </a:p>
          <a:p>
            <a:pPr algn="r">
              <a:defRPr sz="1200" b="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Jashore University of Science and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Supervisor:</a:t>
            </a:r>
          </a:p>
          <a:p>
            <a:pPr algn="l">
              <a:defRPr sz="1300" b="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Dr. Mohammad Nowsin Amin Sheikh</a:t>
            </a:r>
          </a:p>
          <a:p>
            <a:pPr algn="l">
              <a:defRPr sz="1300" b="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Assistant Professor</a:t>
            </a:r>
          </a:p>
          <a:p>
            <a:pPr algn="l">
              <a:defRPr sz="1200" b="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B.Sc (Engg.), M.Sc (Engg.), PhD</a:t>
            </a:r>
          </a:p>
          <a:p>
            <a:pPr algn="l">
              <a:defRPr sz="1200" b="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Dept. of Computer Science and Engineering (CSE)</a:t>
            </a:r>
          </a:p>
          <a:p>
            <a:pPr algn="l">
              <a:defRPr sz="1200" b="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Jashore University of Science and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Introduction &amp; Research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2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5257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Times New Roman"/>
              </a:defRPr>
            </a:pPr>
            <a:r>
              <a:rPr>
                <a:latin typeface="Times New Roman"/>
              </a:rPr>
              <a:t>CHALLENGE 01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Scientific Literature Explosion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Over 1.5 million peer-reviewed papers are published annually. Researchers face severe cognitive overload attempting to manually track, read, extract, and synthesize evidence across hundreds of PDF manuscripts.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51560"/>
            <a:ext cx="5257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B91C1C"/>
                </a:solidFill>
                <a:latin typeface="Times New Roman"/>
              </a:defRPr>
            </a:pPr>
            <a:r>
              <a:rPr>
                <a:latin typeface="Times New Roman"/>
              </a:rPr>
              <a:t>CHALLENGE 02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Fragmented Academic Toolchains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Reviewers are forced to juggle disconnected applications: Zotero for reference storage, Excel for data tables, and Word/Notepad for notes. This disjunction causes lost citations and version discrepancy.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5257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imes New Roman"/>
              </a:defRPr>
            </a:pPr>
            <a:r>
              <a:rPr>
                <a:latin typeface="Times New Roman"/>
              </a:rPr>
              <a:t>LIMITATION 03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Absence of Coordinate Traceability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Conventional spreadsheets store extracted claims with zero link to source text. Verifying a recorded benchmark requires re-reading multi-page papers from scratch due to missing bounding-box coordinates.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749039"/>
            <a:ext cx="5257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66534"/>
                </a:solidFill>
                <a:latin typeface="Times New Roman"/>
              </a:defRPr>
            </a:pPr>
            <a:r>
              <a:rPr>
                <a:latin typeface="Times New Roman"/>
              </a:rPr>
              <a:t>THE SOLUTION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LitSphere Centralized Synthesis Platform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A unified, collaborative platform integrating split-screen PDF reading, coordinate-accurate claim anchoring, live synthesis matrix grids, and 1-click publication-ready LaTeX table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Existing Systems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3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5257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REFERENCE MANAGERS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Zotero, EndNote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Strengths: Reliable bibliographic indexing, citation metadata generation, and local PDF file storage.</a:t>
            </a:r>
            <a:br/>
            <a:r>
              <a:rPr>
                <a:latin typeface="Times New Roman"/>
              </a:rPr>
              <a:t>• Critical Gaps: Incapable of structured variable extraction; zero comparative matrix synthesis; no PRISMA consensus screening.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51560"/>
            <a:ext cx="5257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Times New Roman"/>
              </a:defRPr>
            </a:pPr>
            <a:r>
              <a:rPr>
                <a:latin typeface="Times New Roman"/>
              </a:rPr>
              <a:t>MANUAL SPREADSHEETS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Microsoft Excel, Google Sheets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Strengths: Flexible rows and columns; universally accessible tabular format.</a:t>
            </a:r>
            <a:br/>
            <a:r>
              <a:rPr>
                <a:latin typeface="Times New Roman"/>
              </a:rPr>
              <a:t>• Critical Gaps: Completely detached from PDF documents; severe data entry error rates; zero coordinate-anchored jump; high formatting overhead.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5257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D28D9"/>
                </a:solidFill>
                <a:latin typeface="Times New Roman"/>
              </a:defRPr>
            </a:pPr>
            <a:r>
              <a:rPr>
                <a:latin typeface="Times New Roman"/>
              </a:rPr>
              <a:t>SPECIALIZED SLR TOOLS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Rayyan, Covidence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Strengths: Structured title/abstract screening workflow for medical reviews.</a:t>
            </a:r>
            <a:br/>
            <a:r>
              <a:rPr>
                <a:latin typeface="Times New Roman"/>
              </a:rPr>
              <a:t>• Critical Gaps: Prohibitive subscription paywalls; rigid clinical focus; lack of interactive split-screen matrix extraction and benchmark clustering.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749039"/>
            <a:ext cx="5257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B91C1C"/>
                </a:solidFill>
                <a:latin typeface="Times New Roman"/>
              </a:defRPr>
            </a:pPr>
            <a:r>
              <a:rPr>
                <a:latin typeface="Times New Roman"/>
              </a:rPr>
              <a:t>NOTE-TAKING SYSTEMS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Obsidian, Notion, LiquidText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Strengths: Freeform markdown notes and visual bi-directional document linking.</a:t>
            </a:r>
            <a:br/>
            <a:r>
              <a:rPr>
                <a:latin typeface="Times New Roman"/>
              </a:rPr>
              <a:t>• Critical Gaps: Lack structured systematic review protocols; no multi-reviewer dual-blind voting; no automated LaTeX publication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LitSphere: Proposed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4 / 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051560"/>
            <a:ext cx="6309360" cy="438912"/>
          </a:xfrm>
          <a:prstGeom prst="round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CENTRALIZED COLLABORATIVE RESEARCH SYNTHESIS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2578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Researcher Workspace: Dual-Pane Reviewer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Split-Screen PDF Reader: Synchronous in-browser PDF viewing without requiring external desktop software.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Coordinate BBox Anchoring: Highlights are permanently bound to exact geometric coordinates in the PDF.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Direct Variable Extraction: Populate dataset, model, metrics, and limitations side-by-side with reading.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Search &amp; Tag Filters: Instant filtering by keyword, publication year, and domain taxonomy tags.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2578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0F2240"/>
                </a:solidFill>
                <a:latin typeface="Times New Roman"/>
              </a:defRPr>
            </a:pPr>
            <a:r>
              <a:rPr>
                <a:latin typeface="Times New Roman"/>
              </a:rPr>
              <a:t>Synthesis Lead: Master Matrix &amp; Analytics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Interactive Master Matrix: Unified comparative grid aggregating extracted variables across all papers.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Dynamic Clustering: Automated thematic grouping by methodology, problem type, and benchmarks.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Dual-Blind PRISMA Engine: Independent reviewer screening and Cohen's Kappa agreement check.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1-Click Academic Export: Direct output to LaTeX booktabs, formatted Excel (.xlsx), and BibTeX.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Core Impact: Eliminates the 80% administrative friction between reading academic literature and synthesizing publishable survey articles.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Feature Comparison: LitSphere vs Existing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5 / 28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7442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1783080"/>
                <a:gridCol w="1783080"/>
                <a:gridCol w="1783080"/>
                <a:gridCol w="1783080"/>
              </a:tblGrid>
              <a:tr h="37592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Feature Dimension</a:t>
                      </a:r>
                    </a:p>
                  </a:txBody>
                  <a:tcPr anchor="ctr">
                    <a:solidFill>
                      <a:srgbClr val="16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Zotero</a:t>
                      </a:r>
                    </a:p>
                  </a:txBody>
                  <a:tcPr anchor="ctr">
                    <a:solidFill>
                      <a:srgbClr val="16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MS Excel / Sheets</a:t>
                      </a:r>
                    </a:p>
                  </a:txBody>
                  <a:tcPr anchor="ctr">
                    <a:solidFill>
                      <a:srgbClr val="16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Rayyan / Covidence</a:t>
                      </a:r>
                    </a:p>
                  </a:txBody>
                  <a:tcPr anchor="ctr">
                    <a:solidFill>
                      <a:srgbClr val="16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69214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LitSphere (Proposed)</a:t>
                      </a:r>
                    </a:p>
                  </a:txBody>
                  <a:tcPr anchor="ctr">
                    <a:solidFill>
                      <a:srgbClr val="16325B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In-Browser PDF Annotation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✓ (Basic)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✓ (Dual-Pane)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Coordinate-Anchored Claims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✓ (Exact BBox)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Master Synthesis Matrix Grid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✓ (Manual)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✓ (Real-Time)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Thematic Clustering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✓ (Taxonomy)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Dual-Blind PRISMA Screening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✓ (Paid)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✓ (Built-in)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One-Click LaTeX booktabs Export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✓ (Native)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Local-First SQLite WAL 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✓ (Proprietary)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 (Cloud-only)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✓ (Open ACID)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Zero-Framework Sub-15ms Latency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✓ (Optimized)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3429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66534"/>
                </a:solidFill>
                <a:latin typeface="Times New Roman"/>
              </a:defRPr>
            </a:pPr>
            <a:r>
              <a:rPr>
                <a:latin typeface="Times New Roman"/>
              </a:rPr>
              <a:t>VERIFIABILITY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100% Traceability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Every extracted claim jumps directly to its original sentence in the PDF.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4754880"/>
            <a:ext cx="3429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STANDARDS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PRISMA Compliance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Structured screening, consensus voting, and automated exclusion reporting.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4880"/>
            <a:ext cx="3429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C69214"/>
                </a:solidFill>
                <a:latin typeface="Times New Roman"/>
              </a:defRPr>
            </a:pPr>
            <a:r>
              <a:rPr>
                <a:latin typeface="Times New Roman"/>
              </a:rPr>
              <a:t>EFFICIENCY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Publication-Ready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Direct generation of publication-grade LaTeX tables and BibTeX citation keys.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Advanced Features: LitSphere Advantage (Part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6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3429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Times New Roman"/>
              </a:defRPr>
            </a:pPr>
            <a:r>
              <a:rPr>
                <a:latin typeface="Times New Roman"/>
              </a:rPr>
              <a:t>FEATURE MODULE 01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Split-Screen Dual-Pane PDF Reviewer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Synchronous side-by-side layout: PDF reader docked alongside data extraction form.</a:t>
            </a:r>
            <a:br/>
            <a:r>
              <a:rPr>
                <a:latin typeface="Times New Roman"/>
              </a:rPr>
              <a:t>• Eliminates disruptive Alt-Tab switching between viewer and external spreadsheets.</a:t>
            </a:r>
            <a:br/>
            <a:r>
              <a:rPr>
                <a:latin typeface="Times New Roman"/>
              </a:rPr>
              <a:t>• Native PDF.js rendering with continuous vertical scrolling, zoom, and page jump.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51560"/>
            <a:ext cx="3429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imes New Roman"/>
              </a:defRPr>
            </a:pPr>
            <a:r>
              <a:rPr>
                <a:latin typeface="Times New Roman"/>
              </a:rPr>
              <a:t>FEATURE MODULE 02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Coordinate-Accurate Text Highlighting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Bounding box coordinates recorded in normalized [x, y, w, h] geometry.</a:t>
            </a:r>
            <a:br/>
            <a:r>
              <a:rPr>
                <a:latin typeface="Times New Roman"/>
              </a:rPr>
              <a:t>• Highlighting survives zoom, scaling, and responsive viewport adjustments.</a:t>
            </a:r>
            <a:br/>
            <a:r>
              <a:rPr>
                <a:latin typeface="Times New Roman"/>
              </a:rPr>
              <a:t>• Clicking an extracted matrix metric instantly navigates to the exact sentence.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051560"/>
            <a:ext cx="3429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C69214"/>
                </a:solidFill>
                <a:latin typeface="Times New Roman"/>
              </a:defRPr>
            </a:pPr>
            <a:r>
              <a:rPr>
                <a:latin typeface="Times New Roman"/>
              </a:rPr>
              <a:t>FEATURE MODULE 03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Master Synthesis Matrix Grid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Real-time multi-dimensional comparison table across all ingested papers.</a:t>
            </a:r>
            <a:br/>
            <a:r>
              <a:rPr>
                <a:latin typeface="Times New Roman"/>
              </a:rPr>
              <a:t>• Inline editing with instant database persistence and audit trails.</a:t>
            </a:r>
            <a:br/>
            <a:r>
              <a:rPr>
                <a:latin typeface="Times New Roman"/>
              </a:rPr>
              <a:t>• Dynamic filtering by publication year, taxonomy tags, and performance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Engineering Significance: Closed-loop verification cycle guarantees that every scientific claim in the synthesis matrix is verifiable in under 2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Advanced Features: LitSphere Advantage (Part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7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3429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66534"/>
                </a:solidFill>
                <a:latin typeface="Times New Roman"/>
              </a:defRPr>
            </a:pPr>
            <a:r>
              <a:rPr>
                <a:latin typeface="Times New Roman"/>
              </a:rPr>
              <a:t>FEATURE MODULE 04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Dual-Blind PRISMA Screening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Independent voting protocol (Include / Exclude / Maybe) for peer reviewers.</a:t>
            </a:r>
            <a:br/>
            <a:r>
              <a:rPr>
                <a:latin typeface="Times New Roman"/>
              </a:rPr>
              <a:t>• Automated calculation of Cohen's Kappa (κ) inter-rater agreement score.</a:t>
            </a:r>
            <a:br/>
            <a:r>
              <a:rPr>
                <a:latin typeface="Times New Roman"/>
              </a:rPr>
              <a:t>• Arbitration interface for lead supervisors to resolve inclusion conflicts.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51560"/>
            <a:ext cx="3429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Times New Roman"/>
              </a:defRPr>
            </a:pPr>
            <a:r>
              <a:rPr>
                <a:latin typeface="Times New Roman"/>
              </a:rPr>
              <a:t>FEATURE MODULE 05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Zero-Framework High Performance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Built entirely using Vanilla ES6 JavaScript without bloated runtime frameworks.</a:t>
            </a:r>
            <a:br/>
            <a:r>
              <a:rPr>
                <a:latin typeface="Times New Roman"/>
              </a:rPr>
              <a:t>• Sub-15ms client interaction latency and ultra-fast DOM redraw speeds.</a:t>
            </a:r>
            <a:br/>
            <a:r>
              <a:rPr>
                <a:latin typeface="Times New Roman"/>
              </a:rPr>
              <a:t>• SQLite WAL mode enables concurrent reader execution with zero locking stalls.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051560"/>
            <a:ext cx="3429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D28D9"/>
                </a:solidFill>
                <a:latin typeface="Times New Roman"/>
              </a:defRPr>
            </a:pPr>
            <a:r>
              <a:rPr>
                <a:latin typeface="Times New Roman"/>
              </a:rPr>
              <a:t>FEATURE MODULE 06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1-Click Academic Export Engine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Direct generation of IEEE/ACM compliant LaTeX booktabs code tables.</a:t>
            </a:r>
            <a:br/>
            <a:r>
              <a:rPr>
                <a:latin typeface="Times New Roman"/>
              </a:rPr>
              <a:t>• Formatted Excel export (.xlsx) for statistical meta-analysis.</a:t>
            </a:r>
            <a:br/>
            <a:r>
              <a:rPr>
                <a:latin typeface="Times New Roman"/>
              </a:rPr>
              <a:t>• Automatic BibTeX synchronization with sanitized citation keys and DOIs.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Research Rigor: Conforms to international PRISMA guidelines, ensuring standard-compliant literature reviews.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System Architecture &amp;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8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3429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Times New Roman"/>
              </a:defRPr>
            </a:pPr>
            <a:r>
              <a:rPr>
                <a:latin typeface="Times New Roman"/>
              </a:rPr>
              <a:t>FRONTEND LAYER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Native Web Architecture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HTML5 &amp; CSS3: Modular design tokens, light theme, CSS grid and flexbox.</a:t>
            </a:r>
            <a:br/>
            <a:r>
              <a:rPr>
                <a:latin typeface="Times New Roman"/>
              </a:rPr>
              <a:t>• Vanilla ES6 JS: High performance, zero dependency bundle overhead.</a:t>
            </a:r>
            <a:br/>
            <a:r>
              <a:rPr>
                <a:latin typeface="Times New Roman"/>
              </a:rPr>
              <a:t>• PDF.js Library: Mozilla client-side PDF rendering engine.</a:t>
            </a:r>
            <a:br/>
            <a:r>
              <a:rPr>
                <a:latin typeface="Times New Roman"/>
              </a:rPr>
              <a:t>• Canvas Overlay: Coordinate highlight layer with precise BBox geometry.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51560"/>
            <a:ext cx="3429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66534"/>
                </a:solidFill>
                <a:latin typeface="Times New Roman"/>
              </a:defRPr>
            </a:pPr>
            <a:r>
              <a:rPr>
                <a:latin typeface="Times New Roman"/>
              </a:rPr>
              <a:t>BACKEND LAYER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Node.js REST API Service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Node.js &amp; Express: Non-blocking asynchronous event-driven I/O.</a:t>
            </a:r>
            <a:br/>
            <a:r>
              <a:rPr>
                <a:latin typeface="Times New Roman"/>
              </a:rPr>
              <a:t>• Multer Engine: Streaming multipart PDF ingestion and validation.</a:t>
            </a:r>
            <a:br/>
            <a:r>
              <a:rPr>
                <a:latin typeface="Times New Roman"/>
              </a:rPr>
              <a:t>• JWT Security: Stateless authorization with bcrypt hash encryption.</a:t>
            </a:r>
            <a:br/>
            <a:r>
              <a:rPr>
                <a:latin typeface="Times New Roman"/>
              </a:rPr>
              <a:t>• Export Pipeline: Programmatic LaTeX table and XLSX synthesis.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051560"/>
            <a:ext cx="34290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C69214"/>
                </a:solidFill>
                <a:latin typeface="Times New Roman"/>
              </a:defRPr>
            </a:pPr>
            <a:r>
              <a:rPr>
                <a:latin typeface="Times New Roman"/>
              </a:rPr>
              <a:t>PERSISTENCE LAYER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SQLite 3 Database Engine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SQLite 3 Engine: Embedded, zero-configuration relational database.</a:t>
            </a:r>
            <a:br/>
            <a:r>
              <a:rPr>
                <a:latin typeface="Times New Roman"/>
              </a:rPr>
              <a:t>• WAL Mode: Write-Ahead Logging for high-throughput concurrency.</a:t>
            </a:r>
            <a:br/>
            <a:r>
              <a:rPr>
                <a:latin typeface="Times New Roman"/>
              </a:rPr>
              <a:t>• ACID Guarantees: Transactional integrity on all matrix cell writes.</a:t>
            </a:r>
            <a:br/>
            <a:r>
              <a:rPr>
                <a:latin typeface="Times New Roman"/>
              </a:rPr>
              <a:t>• JSON Extension: Dynamic storage for extensible extraction schemas.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23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Design Philosophy: Local-first privacy, minimal deployment dependencies, maximum performance, and open standards compliance.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Expected Functional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9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34290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FOR RESEARCHERS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Extraction &amp; Reading Tools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Drag-and-drop batch PDF ingestion.</a:t>
            </a:r>
            <a:br/>
            <a:r>
              <a:rPr>
                <a:latin typeface="Times New Roman"/>
              </a:rPr>
              <a:t>• Synchronized split-screen reader.</a:t>
            </a:r>
            <a:br/>
            <a:r>
              <a:rPr>
                <a:latin typeface="Times New Roman"/>
              </a:rPr>
              <a:t>• Text selection and BBox anchor.</a:t>
            </a:r>
            <a:br/>
            <a:r>
              <a:rPr>
                <a:latin typeface="Times New Roman"/>
              </a:rPr>
              <a:t>• BibTeX key and DOI lookup.</a:t>
            </a:r>
            <a:br/>
            <a:r>
              <a:rPr>
                <a:latin typeface="Times New Roman"/>
              </a:rPr>
              <a:t>• Contextual annotation notes.</a:t>
            </a:r>
            <a:br/>
            <a:r>
              <a:rPr>
                <a:latin typeface="Times New Roman"/>
              </a:rPr>
              <a:t>• Dynamic keyword cloud inspector.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51560"/>
            <a:ext cx="34290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Times New Roman"/>
              </a:defRPr>
            </a:pPr>
            <a:r>
              <a:rPr>
                <a:latin typeface="Times New Roman"/>
              </a:rPr>
              <a:t>FOR PROJECT LEADS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Synthesis &amp; Governance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PRISMA screening protocol manager.</a:t>
            </a:r>
            <a:br/>
            <a:r>
              <a:rPr>
                <a:latin typeface="Times New Roman"/>
              </a:rPr>
              <a:t>• Extraction schema configuration.</a:t>
            </a:r>
            <a:br/>
            <a:r>
              <a:rPr>
                <a:latin typeface="Times New Roman"/>
              </a:rPr>
              <a:t>• Real-time master matrix dashboard.</a:t>
            </a:r>
            <a:br/>
            <a:r>
              <a:rPr>
                <a:latin typeface="Times New Roman"/>
              </a:rPr>
              <a:t>• Dynamic thematic clustering view.</a:t>
            </a:r>
            <a:br/>
            <a:r>
              <a:rPr>
                <a:latin typeface="Times New Roman"/>
              </a:rPr>
              <a:t>• Reviewer conflict resolution tools.</a:t>
            </a:r>
            <a:br/>
            <a:r>
              <a:rPr>
                <a:latin typeface="Times New Roman"/>
              </a:rPr>
              <a:t>• LaTeX booktabs &amp; Excel export.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051560"/>
            <a:ext cx="34290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imes New Roman"/>
              </a:defRPr>
            </a:pPr>
            <a:r>
              <a:rPr>
                <a:latin typeface="Times New Roman"/>
              </a:rPr>
              <a:t>SYSTEM-WIDE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Core Infrastructure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Role-Based Access Control (RBAC).</a:t>
            </a:r>
            <a:br/>
            <a:r>
              <a:rPr>
                <a:latin typeface="Times New Roman"/>
              </a:rPr>
              <a:t>• Comprehensive action audit logging.</a:t>
            </a:r>
            <a:br/>
            <a:r>
              <a:rPr>
                <a:latin typeface="Times New Roman"/>
              </a:rPr>
              <a:t>• Local-first offline data resilience.</a:t>
            </a:r>
            <a:br/>
            <a:r>
              <a:rPr>
                <a:latin typeface="Times New Roman"/>
              </a:rPr>
              <a:t>• Automated database backups.</a:t>
            </a:r>
            <a:br/>
            <a:r>
              <a:rPr>
                <a:latin typeface="Times New Roman"/>
              </a:rPr>
              <a:t>• Responsive cross-browser layout.</a:t>
            </a:r>
            <a:br/>
            <a:r>
              <a:rPr>
                <a:latin typeface="Times New Roman"/>
              </a:rPr>
              <a:t>• REST API interface for extensions.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12-Month Project Timeline (Gantt Overview)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10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9405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2700" cy="32918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625574" y="1371600"/>
            <a:ext cx="89405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M2</a:t>
            </a:r>
          </a:p>
        </p:txBody>
      </p:sp>
      <p:sp>
        <p:nvSpPr>
          <p:cNvPr id="8" name="Rectangle 7"/>
          <p:cNvSpPr/>
          <p:nvPr/>
        </p:nvSpPr>
        <p:spPr>
          <a:xfrm>
            <a:off x="1625574" y="1737360"/>
            <a:ext cx="12700" cy="32918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519629" y="1371600"/>
            <a:ext cx="89405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9629" y="1737360"/>
            <a:ext cx="12700" cy="32918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13683" y="1371600"/>
            <a:ext cx="89405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3683" y="1737360"/>
            <a:ext cx="12700" cy="32918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307738" y="1371600"/>
            <a:ext cx="89405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7738" y="1737360"/>
            <a:ext cx="12700" cy="32918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201792" y="1371600"/>
            <a:ext cx="89405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01792" y="1737360"/>
            <a:ext cx="12700" cy="32918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095847" y="1371600"/>
            <a:ext cx="89405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5847" y="1737360"/>
            <a:ext cx="12700" cy="32918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989902" y="1371600"/>
            <a:ext cx="89405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89902" y="1737360"/>
            <a:ext cx="12700" cy="32918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883956" y="1371600"/>
            <a:ext cx="89405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83956" y="1737360"/>
            <a:ext cx="12700" cy="32918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8778011" y="1371600"/>
            <a:ext cx="89405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011" y="1737360"/>
            <a:ext cx="12700" cy="32918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9672065" y="1371600"/>
            <a:ext cx="89405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72065" y="1737360"/>
            <a:ext cx="12700" cy="32918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10566120" y="1371600"/>
            <a:ext cx="89405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66120" y="1737360"/>
            <a:ext cx="12700" cy="32918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29" name="Rectangle 28"/>
          <p:cNvSpPr/>
          <p:nvPr/>
        </p:nvSpPr>
        <p:spPr>
          <a:xfrm>
            <a:off x="6083147" y="1645920"/>
            <a:ext cx="25400" cy="3383280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0" name="Rounded Rectangle 29"/>
          <p:cNvSpPr/>
          <p:nvPr/>
        </p:nvSpPr>
        <p:spPr>
          <a:xfrm>
            <a:off x="5272887" y="1280160"/>
            <a:ext cx="1645920" cy="320040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CURRENT STATUS (M6)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1737360"/>
            <a:ext cx="1696669" cy="45720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Phase 1: SRS (100% Complete)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5349" y="2286000"/>
            <a:ext cx="1696669" cy="45720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Phase 2: Design (100% Complete)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53458" y="2834640"/>
            <a:ext cx="1696669" cy="45720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Phase 3: Core UI (100% Complete)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1567" y="3383280"/>
            <a:ext cx="1696669" cy="4572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Phase 4: PRISMA (Active Target)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29676" y="3931920"/>
            <a:ext cx="1696669" cy="457200"/>
          </a:xfrm>
          <a:prstGeom prst="roundRect">
            <a:avLst/>
          </a:prstGeom>
          <a:solidFill>
            <a:srgbClr val="163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Phase 5: ML &amp; Clustering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17785" y="4480560"/>
            <a:ext cx="1696669" cy="4572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Phase 6: SUS &amp; Final Defense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349240"/>
            <a:ext cx="4892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66534"/>
                </a:solidFill>
                <a:latin typeface="Times New Roman"/>
              </a:defRPr>
            </a:pPr>
            <a:r>
              <a:rPr>
                <a:latin typeface="Times New Roman"/>
              </a:rPr>
              <a:t>✓ Months 1–6 (Complete): Problem Analysis, Architecture, Reviewer &amp; Matrix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349240"/>
            <a:ext cx="4892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➢ Months 7–12 (Target): PRISMA Consensus, Clustering, User Studies &amp; Defense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Development Phases &amp; Milestone Targets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11 / 28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744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429000"/>
                <a:gridCol w="1463040"/>
                <a:gridCol w="1645920"/>
                <a:gridCol w="329184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Phase</a:t>
                      </a:r>
                    </a:p>
                  </a:txBody>
                  <a:tcPr anchor="ctr">
                    <a:solidFill>
                      <a:srgbClr val="16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Focus Domain</a:t>
                      </a:r>
                    </a:p>
                  </a:txBody>
                  <a:tcPr anchor="ctr">
                    <a:solidFill>
                      <a:srgbClr val="16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Timeline</a:t>
                      </a:r>
                    </a:p>
                  </a:txBody>
                  <a:tcPr anchor="ctr">
                    <a:solidFill>
                      <a:srgbClr val="1632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Status</a:t>
                      </a:r>
                    </a:p>
                  </a:txBody>
                  <a:tcPr anchor="ctr">
                    <a:solidFill>
                      <a:srgbClr val="16325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Key Deliverable</a:t>
                      </a:r>
                    </a:p>
                  </a:txBody>
                  <a:tcPr anchor="ctr">
                    <a:solidFill>
                      <a:srgbClr val="16325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Problem Formulation &amp; SRS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M1–M2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Formal requirements specification document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Architecture &amp; Schema Design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M3–M4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Relational ERD, Use Case model, API contract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Core Reviewer &amp; Matrix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M5–M6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66534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Split-screen PDF reader, BBox highlight, matrix grid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Collaborative PRISMA Screening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M7–M8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B45309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NEXT FOCUS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Dual-blind voting, Cohen's Kappa, conflict resolver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Synthesis Analytics &amp; 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M9–M10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PLANNED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Dynamic thematic clustering, keyword frequency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Benchmarking &amp; Defense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M11–M12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64748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PLANNED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SUS usability evaluation, thesis, final defense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389120"/>
            <a:ext cx="5257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C69214"/>
                </a:solidFill>
                <a:latin typeface="Times New Roman"/>
              </a:defRPr>
            </a:pPr>
            <a:r>
              <a:rPr>
                <a:latin typeface="Times New Roman"/>
              </a:rPr>
              <a:t>MILESTONE 1: CURRENT STATUS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Current Deliverables (Month 6)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Complete functional system operational with PDF ingestion, coordinate-anchored annotations, interactive master matrix, and live LaTeX export.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389120"/>
            <a:ext cx="5257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MILESTONE 2: FUTURE TARGET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Final Defense Deliverables (Month 12)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Multi-user real-time PRISMA screening consensus engine, automated taxonomy clustering, empirical user study, and completed thesis dissertation.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0" y="1828800"/>
            <a:ext cx="2011680" cy="438912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SECTION 02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80" y="2423160"/>
            <a:ext cx="2743200" cy="36576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011680" y="26060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6-Month Progress Overview</a:t>
            </a:r>
          </a:p>
          <a:p>
            <a:pPr>
              <a:defRPr sz="20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Milestones Achieved, Core Deliverables, and Current System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Progress Summary: Month 1 to 6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13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Phase-Wise Completion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Phase 1: Literature Review &amp; SRS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5544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66534"/>
                </a:solidFill>
                <a:latin typeface="Times New Roman"/>
              </a:defRPr>
            </a:pPr>
            <a:r>
              <a:rPr>
                <a:latin typeface="Times New Roman"/>
              </a:rPr>
              <a:t>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20"/>
            <a:ext cx="548640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731520" y="1874520"/>
            <a:ext cx="5486400" cy="201168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Phase 2: Architecture &amp; Database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4688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66534"/>
                </a:solidFill>
                <a:latin typeface="Times New Roman"/>
              </a:defRPr>
            </a:pPr>
            <a:r>
              <a:rPr>
                <a:latin typeface="Times New Roman"/>
              </a:rPr>
              <a:t>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88920"/>
            <a:ext cx="548640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731520" y="2788920"/>
            <a:ext cx="5486400" cy="201168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Phase 3: Reviewer &amp; Master Matrix Grid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3832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66534"/>
                </a:solidFill>
                <a:latin typeface="Times New Roman"/>
              </a:defRPr>
            </a:pPr>
            <a:r>
              <a:rPr>
                <a:latin typeface="Times New Roman"/>
              </a:rPr>
              <a:t>100%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548640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731520" y="3703320"/>
            <a:ext cx="5486400" cy="201168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Overall 12-Month Project Trajectory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976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C69214"/>
                </a:solidFill>
                <a:latin typeface="Times New Roman"/>
              </a:defRPr>
            </a:pPr>
            <a:r>
              <a:rPr>
                <a:latin typeface="Times New Roman"/>
              </a:rPr>
              <a:t>55%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17720"/>
            <a:ext cx="5486400" cy="20116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21" name="Rounded Rectangle 20"/>
          <p:cNvSpPr/>
          <p:nvPr/>
        </p:nvSpPr>
        <p:spPr>
          <a:xfrm>
            <a:off x="731520" y="4617720"/>
            <a:ext cx="3017520" cy="201168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675120" y="10515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Key Metrics at Month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645920"/>
            <a:ext cx="2240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6534"/>
                </a:solidFill>
                <a:latin typeface="Times New Roman"/>
              </a:defRPr>
            </a:pPr>
            <a:r>
              <a:rPr>
                <a:latin typeface="Times New Roman"/>
              </a:rPr>
              <a:t>3 / 6</a:t>
            </a:r>
          </a:p>
          <a:p>
            <a:pPr algn="ctr">
              <a:defRPr sz="14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Phases 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45920"/>
            <a:ext cx="2240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C69214"/>
                </a:solidFill>
                <a:latin typeface="Times New Roman"/>
              </a:defRPr>
            </a:pPr>
            <a:r>
              <a:rPr>
                <a:latin typeface="Times New Roman"/>
              </a:rPr>
              <a:t>55%</a:t>
            </a:r>
          </a:p>
          <a:p>
            <a:pPr algn="ctr">
              <a:defRPr sz="14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Overall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200400"/>
            <a:ext cx="2240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D4ED8"/>
                </a:solidFill>
                <a:latin typeface="Times New Roman"/>
              </a:defRPr>
            </a:pPr>
            <a:r>
              <a:rPr>
                <a:latin typeface="Times New Roman"/>
              </a:rPr>
              <a:t>12</a:t>
            </a:r>
          </a:p>
          <a:p>
            <a:pPr algn="ctr">
              <a:defRPr sz="14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Core Modules 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200400"/>
            <a:ext cx="22402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B45309"/>
                </a:solidFill>
                <a:latin typeface="Times New Roman"/>
              </a:defRPr>
            </a:pPr>
            <a:r>
              <a:rPr>
                <a:latin typeface="Times New Roman"/>
              </a:rPr>
              <a:t>Phase 4</a:t>
            </a:r>
          </a:p>
          <a:p>
            <a:pPr algn="ctr">
              <a:defRPr sz="14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Next Immediate 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3212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Executive Assessment: All preliminary research, system architecture, database modeling, and core functional implementation milestones for the first 6 months have been successfully executed according to the approved project plan.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Completed Modules (Month 1 to 6)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14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34290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D4ED8"/>
                </a:solidFill>
                <a:latin typeface="Times New Roman"/>
              </a:defRPr>
            </a:pPr>
            <a:r>
              <a:rPr>
                <a:latin typeface="Times New Roman"/>
              </a:rPr>
              <a:t>MODULE 01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User Auth &amp; Access Control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Secure JWT session tokens, role-based route middleware, and bcrypt password encryption.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51560"/>
            <a:ext cx="34290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66534"/>
                </a:solidFill>
                <a:latin typeface="Times New Roman"/>
              </a:defRPr>
            </a:pPr>
            <a:r>
              <a:rPr>
                <a:latin typeface="Times New Roman"/>
              </a:rPr>
              <a:t>MODULE 02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Survey Initializer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Multi-project creation, research protocol configuration, and inclusion criteria setup.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051560"/>
            <a:ext cx="34290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Times New Roman"/>
              </a:defRPr>
            </a:pPr>
            <a:r>
              <a:rPr>
                <a:latin typeface="Times New Roman"/>
              </a:rPr>
              <a:t>MODULE 03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PDF Ingestion Pipeline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Drag-and-drop batch file ingestion, automatic BibTeX parsing, and metadata indexing.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34290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F766E"/>
                </a:solidFill>
                <a:latin typeface="Times New Roman"/>
              </a:defRPr>
            </a:pPr>
            <a:r>
              <a:rPr>
                <a:latin typeface="Times New Roman"/>
              </a:rPr>
              <a:t>MODULE 04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Dual-Pane PDF Reviewer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Synchronous in-browser PDF reader docked beside dynamic variable extraction forms.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657600"/>
            <a:ext cx="34290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C69214"/>
                </a:solidFill>
                <a:latin typeface="Times New Roman"/>
              </a:defRPr>
            </a:pPr>
            <a:r>
              <a:rPr>
                <a:latin typeface="Times New Roman"/>
              </a:rPr>
              <a:t>MODULE 05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Coordinate BBox Highlighting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Geometric bounding box anchors bound to PDF coordinates for instant jump-to-quote.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57600"/>
            <a:ext cx="34290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D28D9"/>
                </a:solidFill>
                <a:latin typeface="Times New Roman"/>
              </a:defRPr>
            </a:pPr>
            <a:r>
              <a:rPr>
                <a:latin typeface="Times New Roman"/>
              </a:rPr>
              <a:t>MODULE 06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Master Matrix &amp; Export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Live synthesis grid, inline cell editing, and 1-click LaTeX booktabs code output.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Remaining Work (Month 7 to 12)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15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5257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B45309"/>
                </a:solidFill>
                <a:latin typeface="Times New Roman"/>
              </a:defRPr>
            </a:pPr>
            <a:r>
              <a:rPr>
                <a:latin typeface="Times New Roman"/>
              </a:rPr>
              <a:t>MONTH 7–9: COLLABORATION &amp; PRISMA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PRISMA Consensus &amp; Validation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Dual-Blind Screening Workflow: Multi-reviewer independent vote recording without bias.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Cohen's Kappa (κ) Engine: Automated inter-rater agreement computation and threshold alerts.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Supervisor Arbitration Panel: Centralized dashboard for resolving reviewer inclusion discrepancies.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Automated Deduplication: Title and DOI hash matching to eliminate redundant search imports.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51560"/>
            <a:ext cx="5257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MONTH 10–12: ANALYTICS &amp; DEFENSE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Thematic Analytics &amp; Final Dissertation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Dynamic Thematic Clustering: Automated categorization by methodology, problem domain, and dataset.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User Evaluation (SUS): Comprehensive usability study with academic research groups (N ≥ 20).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Security Hardening: SQL injection audit, rate limiting, and automated backup routines.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Dissertation &amp; Defense: Final thesis documentation and formal defense preparation.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2356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Target Outcome: A production-ready, peer-reviewed collaborative systematic literature review software system.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System Design: Entity-Relationship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16 / 28</a:t>
            </a:r>
          </a:p>
        </p:txBody>
      </p:sp>
      <p:pic>
        <p:nvPicPr>
          <p:cNvPr id="5" name="Picture 4" descr="diagram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6217920" cy="34727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051560"/>
            <a:ext cx="429768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66534"/>
                </a:solidFill>
                <a:latin typeface="Times New Roman"/>
              </a:defRPr>
            </a:pPr>
            <a:r>
              <a:rPr>
                <a:latin typeface="Times New Roman"/>
              </a:rPr>
              <a:t>DATABASE ARCHITECTURE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Relational Model &amp; Integrity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Core Entities: Users, Projects, Papers, Annotations, MatrixRows, and ExtractionFields.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Relational Integrity: Foreign keys with ON DELETE CASCADE prevent orphan records.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Coordinate Storage: Precise bounding boxes stored as JSON-encoded geometric coordinates.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Concurrency Mode: SQLite WAL enables high-frequency simultaneous reads and writes.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System Design: Use Case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17 / 28</a:t>
            </a:r>
          </a:p>
        </p:txBody>
      </p:sp>
      <p:pic>
        <p:nvPicPr>
          <p:cNvPr id="5" name="Picture 4" descr="diagram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6217920" cy="3571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051560"/>
            <a:ext cx="429768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WORKFLOW GOVERNANCE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Actor &amp; Role Workflows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Primary Actors: Researcher (Reviewer), Project Lead (Supervisor), and Admin.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Researcher Actions: Ingest papers, highlight text coordinates, extract synthesis variables.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Project Lead Actions: Define research questions, configure schemas, arbitrate conflicts.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Admin Actions: Manage user accounts, role allocations, system audit logs, and backups.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11680" y="2011680"/>
            <a:ext cx="1645920" cy="411480"/>
          </a:xfrm>
          <a:prstGeom prst="roundRect">
            <a:avLst/>
          </a:prstGeom>
          <a:solidFill>
            <a:srgbClr val="C6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SECTION 03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80" y="2560320"/>
            <a:ext cx="2743200" cy="36576"/>
          </a:xfrm>
          <a:prstGeom prst="rect">
            <a:avLst/>
          </a:prstGeom>
          <a:solidFill>
            <a:srgbClr val="C69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011680" y="27432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UI Implementation &amp; Live Demo</a:t>
            </a:r>
          </a:p>
          <a:p>
            <a:pPr>
              <a:defRPr sz="150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Visual Inspection of the Fully Functional LitSphere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UI: User Authentication &amp; Session Login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19 / 28</a:t>
            </a:r>
          </a:p>
        </p:txBody>
      </p:sp>
      <p:pic>
        <p:nvPicPr>
          <p:cNvPr id="5" name="Picture 4" descr="ui_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4846320" cy="48115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051560"/>
            <a:ext cx="557784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AUTHENTICATION LAYER</a:t>
            </a:r>
          </a:p>
          <a:p>
            <a:pPr>
              <a:spcAft>
                <a:spcPts val="1000"/>
              </a:spcAft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Single-Sign-On &amp; Session Security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Regex Input Validation: Instant client-side format checks for academic email addresses and password security.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JWT Bearer Generation: Issues cryptographically signed stateless tokens upon successful credential verification.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Bcrypt Hashing: High-entropy password encryption protecting user accounts from brute-force vectors.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Persistent Session State: Secure local credential caching for seamless navigation across literature workspace tabs.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UI: Researcher Registration &amp; Account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20 / 28</a:t>
            </a:r>
          </a:p>
        </p:txBody>
      </p:sp>
      <p:pic>
        <p:nvPicPr>
          <p:cNvPr id="5" name="Picture 4" descr="ui_02_create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4846320" cy="60645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1051560"/>
            <a:ext cx="557784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USER ONBOARDING</a:t>
            </a:r>
          </a:p>
          <a:p>
            <a:pPr>
              <a:spcAft>
                <a:spcPts val="1000"/>
              </a:spcAft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Institutional Registration &amp; Role Assignment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Academic Profile Capture: Records researcher full name, department, and university affiliation during signup.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Role-Based Governance: Grants initial access tiers (Student Researcher, Reviewer, or Principal Investigator).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Password Policy Enforcement: Multi-condition character validation ensures robust credential security.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Immediate Workspace Access: Direct transition into systematic literature review projects without manual activation lag.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UI: Researcher Profile &amp; Institutional Affiliation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21 / 28</a:t>
            </a:r>
          </a:p>
        </p:txBody>
      </p:sp>
      <p:pic>
        <p:nvPicPr>
          <p:cNvPr id="5" name="Picture 4" descr="ui_03_use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60120"/>
            <a:ext cx="10728655" cy="61892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6636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ROLE GOVERNANCE</a:t>
            </a:r>
          </a:p>
          <a:p>
            <a:pPr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Account Credentials &amp; Access Roles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Displays active identity credentials, institutional department metadata, and user privileges across all assigned review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16636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ACTIVITY TELEMETRY</a:t>
            </a:r>
          </a:p>
          <a:p>
            <a:pPr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Project Memberships &amp; Contributions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Monitors active literature survey projects, tracks individual paper extraction tallies, and manages password updates.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UI: Project Dashboard &amp; Review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22 / 28</a:t>
            </a:r>
          </a:p>
        </p:txBody>
      </p:sp>
      <p:pic>
        <p:nvPicPr>
          <p:cNvPr id="5" name="Picture 4" descr="ui_04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60120"/>
            <a:ext cx="10728655" cy="73659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6636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EXECUTIVE METRICS</a:t>
            </a:r>
          </a:p>
          <a:p>
            <a:pPr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Survey Portfolio &amp; Extraction KPIs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Real-time operational dashboard providing high-level progress tracking, paper ingestion counts, and variable extraction status.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16636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WORKFLOW ACTIONS</a:t>
            </a:r>
          </a:p>
          <a:p>
            <a:pPr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Protocol Launch &amp; Batch Ingestion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One-click shortcuts to initiate new PRISMA literature review protocols, import BibTeX bibliographic libraries, and add collaborators.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UI: Survey Workspace &amp; Literature Ingestion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23 / 28</a:t>
            </a:r>
          </a:p>
        </p:txBody>
      </p:sp>
      <p:pic>
        <p:nvPicPr>
          <p:cNvPr id="5" name="Picture 4" descr="ui_05_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60120"/>
            <a:ext cx="10728655" cy="6735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6636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INGESTION PIPELINE</a:t>
            </a:r>
          </a:p>
          <a:p>
            <a:pPr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Drag-and-Drop Batch File Upload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High-throughput multi-file PDF ingestion interface with automated bibliographic parsing, title hashing, and metadata normalization.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16636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LITERATURE CATALOG</a:t>
            </a:r>
          </a:p>
          <a:p>
            <a:pPr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Status Filtering &amp; Review Queue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Organized research repository featuring status pills (Uploaded, In Progress, Synthesized) and multi-field keyword filtering.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UI: Split-Screen Dual-Pane Paper Reviewer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24 / 28</a:t>
            </a:r>
          </a:p>
        </p:txBody>
      </p:sp>
      <p:pic>
        <p:nvPicPr>
          <p:cNvPr id="5" name="Picture 4" descr="ui_06_re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60120"/>
            <a:ext cx="10728655" cy="58016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6636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DUAL-PANE WORKSPACE</a:t>
            </a:r>
          </a:p>
          <a:p>
            <a:pPr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Synchronous In-Browser PDF Reading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Integrated PDF reader docked side-by-side with extraction inputs, eliminating workflow disruption from external desktop viewers.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16636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COORDINATE ANCHORING</a:t>
            </a:r>
          </a:p>
          <a:p>
            <a:pPr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Geometric BBox Text Highlighting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Text selections capture exact normalized bounding-box coordinates, providing direct jump-to-quote verification in under 2 seconds.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UI: Interactive Master Synthesis Matrix Grid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25 / 28</a:t>
            </a:r>
          </a:p>
        </p:txBody>
      </p:sp>
      <p:pic>
        <p:nvPicPr>
          <p:cNvPr id="5" name="Picture 4" descr="ui_07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60120"/>
            <a:ext cx="10728655" cy="60231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6636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CROSS-STUDY SYNTHESIS</a:t>
            </a:r>
          </a:p>
          <a:p>
            <a:pPr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Consolidated Comparative Grid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Multi-dimensional tabular matrix harmonizing extracted variables (methodology, datasets, metrics, limitations) across all papers.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16636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TRANSACTIONAL EXPORT</a:t>
            </a:r>
          </a:p>
          <a:p>
            <a:pPr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Inline Editing &amp; 1-Click LaTeX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Supports real-time inline updates with ACID database guarantees, plus direct 1-click export to publication-ready LaTeX booktabs code.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UI: Thematic Clustering &amp; Synthesis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26 / 28</a:t>
            </a:r>
          </a:p>
        </p:txBody>
      </p:sp>
      <p:pic>
        <p:nvPicPr>
          <p:cNvPr id="5" name="Picture 4" descr="ui_08_cluster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60120"/>
            <a:ext cx="10728655" cy="63686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6636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TAXONOMY DISCOVERY</a:t>
            </a:r>
          </a:p>
          <a:p>
            <a:pPr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Algorithmic Research Grouping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Automated thematic clustering categorizing ingested literature into distinct methodological paradigms, architectures, and focus domains.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16636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SYNTHESIS ANALYTICS</a:t>
            </a:r>
          </a:p>
          <a:p>
            <a:pPr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Comparative Paradigm Distributions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Visual analytics displaying literature density, benchmark trends, and research frequency across surveyed publications.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UI: Benchmark Sample &amp; Cluster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27 / 28</a:t>
            </a:r>
          </a:p>
        </p:txBody>
      </p:sp>
      <p:pic>
        <p:nvPicPr>
          <p:cNvPr id="5" name="Picture 4" descr="ui_09_cluster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60120"/>
            <a:ext cx="10728655" cy="66585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6636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GRANULAR DRILLDOWN</a:t>
            </a:r>
          </a:p>
          <a:p>
            <a:pPr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Benchmark Sample Breakdown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Deep-dive inspection panel displaying constituent papers within a cluster, comparing evaluation metrics and algorithmic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16636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RESEARCH GAP IDENTIFICATION</a:t>
            </a:r>
          </a:p>
          <a:p>
            <a:pPr>
              <a:defRPr sz="20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Cross-Methodology Discrepancies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Reveals performance discrepancies, benchmark dataset limitations, and unexplored research gaps across competitive methodologies.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86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Conclusion &amp; Project Outlook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86384"/>
            <a:ext cx="10728655" cy="13716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00584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28 /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34290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66534"/>
                </a:solidFill>
                <a:latin typeface="Times New Roman"/>
              </a:defRPr>
            </a:pPr>
            <a:r>
              <a:rPr>
                <a:latin typeface="Times New Roman"/>
              </a:rPr>
              <a:t>ACHIEVEMENTS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Phases 1–3 Complete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End-to-end working system.</a:t>
            </a:r>
            <a:br/>
            <a:r>
              <a:rPr>
                <a:latin typeface="Times New Roman"/>
              </a:rPr>
              <a:t>• Dual-pane PDF reviewer.</a:t>
            </a:r>
            <a:br/>
            <a:r>
              <a:rPr>
                <a:latin typeface="Times New Roman"/>
              </a:rPr>
              <a:t>• Coordinate BBox anchoring.</a:t>
            </a:r>
            <a:br/>
            <a:r>
              <a:rPr>
                <a:latin typeface="Times New Roman"/>
              </a:rPr>
              <a:t>• Live master matrix grid.</a:t>
            </a:r>
            <a:br/>
            <a:r>
              <a:rPr>
                <a:latin typeface="Times New Roman"/>
              </a:rPr>
              <a:t>• Native LaTeX export.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51560"/>
            <a:ext cx="34290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C69214"/>
                </a:solidFill>
                <a:latin typeface="Times New Roman"/>
              </a:defRPr>
            </a:pPr>
            <a:r>
              <a:rPr>
                <a:latin typeface="Times New Roman"/>
              </a:rPr>
              <a:t>STATUS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Current Milestone (M6)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55% roadmap executed.</a:t>
            </a:r>
            <a:br/>
            <a:r>
              <a:rPr>
                <a:latin typeface="Times New Roman"/>
              </a:rPr>
              <a:t>• Zero major blockers.</a:t>
            </a:r>
            <a:br/>
            <a:r>
              <a:rPr>
                <a:latin typeface="Times New Roman"/>
              </a:rPr>
              <a:t>• High UX performance.</a:t>
            </a:r>
            <a:br/>
            <a:r>
              <a:rPr>
                <a:latin typeface="Times New Roman"/>
              </a:rPr>
              <a:t>• Proven architectural scale.</a:t>
            </a:r>
            <a:br/>
            <a:r>
              <a:rPr>
                <a:latin typeface="Times New Roman"/>
              </a:rPr>
              <a:t>• On track for M12 defense.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051560"/>
            <a:ext cx="34290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NEXT STEPS</a:t>
            </a:r>
          </a:p>
          <a:p>
            <a:pPr>
              <a:defRPr sz="2000" b="1">
                <a:solidFill>
                  <a:srgbClr val="16325B"/>
                </a:solidFill>
                <a:latin typeface="Times New Roman"/>
              </a:defRPr>
            </a:pPr>
            <a:r>
              <a:rPr>
                <a:latin typeface="Times New Roman"/>
              </a:rPr>
              <a:t>Months 7 to 12 Focus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Collaborative PRISMA voting.</a:t>
            </a:r>
            <a:br/>
            <a:r>
              <a:rPr>
                <a:latin typeface="Times New Roman"/>
              </a:rPr>
              <a:t>• Cohen's Kappa score engine.</a:t>
            </a:r>
            <a:br/>
            <a:r>
              <a:rPr>
                <a:latin typeface="Times New Roman"/>
              </a:rPr>
              <a:t>• Supervisor conflict resolver.</a:t>
            </a:r>
            <a:br/>
            <a:r>
              <a:rPr>
                <a:latin typeface="Times New Roman"/>
              </a:rPr>
              <a:t>• SUS usability evaluation.</a:t>
            </a:r>
            <a:br/>
            <a:r>
              <a:rPr>
                <a:latin typeface="Times New Roman"/>
              </a:rPr>
              <a:t>• Final thesis dissertation.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